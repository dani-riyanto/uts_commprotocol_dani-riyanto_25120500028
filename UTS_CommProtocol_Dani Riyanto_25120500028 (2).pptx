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chivo Black" charset="1" panose="020B0A03020202020B04"/>
      <p:regular r:id="rId15"/>
    </p:embeddedFont>
    <p:embeddedFont>
      <p:font typeface="Garet Bold" charset="1" panose="00000000000000000000"/>
      <p:regular r:id="rId16"/>
    </p:embeddedFont>
    <p:embeddedFont>
      <p:font typeface="Garet" charset="1" panose="00000000000000000000"/>
      <p:regular r:id="rId17"/>
    </p:embeddedFont>
    <p:embeddedFont>
      <p:font typeface="Canva Sans" charset="1" panose="020B05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https://edlink.id/panel/"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885470" y="6394076"/>
            <a:ext cx="9373830" cy="370917"/>
          </a:xfrm>
          <a:prstGeom prst="rect">
            <a:avLst/>
          </a:prstGeom>
        </p:spPr>
        <p:txBody>
          <a:bodyPr anchor="t" rtlCol="false" tIns="0" lIns="0" bIns="0" rIns="0">
            <a:spAutoFit/>
          </a:bodyPr>
          <a:lstStyle/>
          <a:p>
            <a:pPr algn="r" marL="0" indent="0" lvl="0">
              <a:lnSpc>
                <a:spcPts val="2748"/>
              </a:lnSpc>
              <a:spcBef>
                <a:spcPct val="0"/>
              </a:spcBef>
            </a:pPr>
            <a:r>
              <a:rPr lang="en-US" sz="2748" spc="-217" u="sng">
                <a:solidFill>
                  <a:srgbClr val="000000"/>
                </a:solidFill>
                <a:latin typeface="Archivo Black"/>
                <a:ea typeface="Archivo Black"/>
                <a:cs typeface="Archivo Black"/>
                <a:sym typeface="Archivo Black"/>
                <a:hlinkClick r:id="rId5" tooltip="https://edlink.id/panel/"/>
              </a:rPr>
              <a:t>Communication Protocols</a:t>
            </a:r>
            <a:r>
              <a:rPr lang="en-US" sz="2748" spc="-217">
                <a:solidFill>
                  <a:srgbClr val="000000"/>
                </a:solidFill>
                <a:latin typeface="Archivo Black"/>
                <a:ea typeface="Archivo Black"/>
                <a:cs typeface="Archivo Black"/>
                <a:sym typeface="Archivo Black"/>
              </a:rPr>
              <a:t> (COMP2)</a:t>
            </a:r>
          </a:p>
        </p:txBody>
      </p:sp>
      <p:sp>
        <p:nvSpPr>
          <p:cNvPr name="TextBox 5" id="5"/>
          <p:cNvSpPr txBox="true"/>
          <p:nvPr/>
        </p:nvSpPr>
        <p:spPr>
          <a:xfrm rot="0">
            <a:off x="1028700" y="8677224"/>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NAME OF PROJECT:</a:t>
            </a:r>
          </a:p>
        </p:txBody>
      </p:sp>
      <p:sp>
        <p:nvSpPr>
          <p:cNvPr name="TextBox 6" id="6"/>
          <p:cNvSpPr txBox="true"/>
          <p:nvPr/>
        </p:nvSpPr>
        <p:spPr>
          <a:xfrm rot="0">
            <a:off x="1028700" y="8966251"/>
            <a:ext cx="3664658" cy="236781"/>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Project UTS</a:t>
            </a:r>
          </a:p>
        </p:txBody>
      </p:sp>
      <p:sp>
        <p:nvSpPr>
          <p:cNvPr name="TextBox 7" id="7"/>
          <p:cNvSpPr txBox="true"/>
          <p:nvPr/>
        </p:nvSpPr>
        <p:spPr>
          <a:xfrm rot="0">
            <a:off x="4394796" y="8677224"/>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PRESENTED BY:</a:t>
            </a:r>
          </a:p>
        </p:txBody>
      </p:sp>
      <p:sp>
        <p:nvSpPr>
          <p:cNvPr name="TextBox 8" id="8"/>
          <p:cNvSpPr txBox="true"/>
          <p:nvPr/>
        </p:nvSpPr>
        <p:spPr>
          <a:xfrm rot="0">
            <a:off x="4394796" y="8966251"/>
            <a:ext cx="3366096" cy="236781"/>
          </a:xfrm>
          <a:prstGeom prst="rect">
            <a:avLst/>
          </a:prstGeom>
        </p:spPr>
        <p:txBody>
          <a:bodyPr anchor="t" rtlCol="false" tIns="0" lIns="0" bIns="0" rIns="0">
            <a:spAutoFit/>
          </a:bodyPr>
          <a:lstStyle/>
          <a:p>
            <a:pPr algn="l" marL="0" indent="0" lvl="0">
              <a:lnSpc>
                <a:spcPts val="2079"/>
              </a:lnSpc>
              <a:spcBef>
                <a:spcPct val="0"/>
              </a:spcBef>
            </a:pPr>
            <a:r>
              <a:rPr lang="en-US" sz="1599">
                <a:solidFill>
                  <a:srgbClr val="2B2B2B"/>
                </a:solidFill>
                <a:latin typeface="Garet"/>
                <a:ea typeface="Garet"/>
                <a:cs typeface="Garet"/>
                <a:sym typeface="Garet"/>
              </a:rPr>
              <a:t>Dani RIyanto - 25120500028</a:t>
            </a:r>
          </a:p>
        </p:txBody>
      </p:sp>
      <p:sp>
        <p:nvSpPr>
          <p:cNvPr name="TextBox 9" id="9"/>
          <p:cNvSpPr txBox="true"/>
          <p:nvPr/>
        </p:nvSpPr>
        <p:spPr>
          <a:xfrm rot="0">
            <a:off x="6485854" y="3950633"/>
            <a:ext cx="10773446" cy="2304786"/>
          </a:xfrm>
          <a:prstGeom prst="rect">
            <a:avLst/>
          </a:prstGeom>
        </p:spPr>
        <p:txBody>
          <a:bodyPr anchor="t" rtlCol="false" tIns="0" lIns="0" bIns="0" rIns="0">
            <a:spAutoFit/>
          </a:bodyPr>
          <a:lstStyle/>
          <a:p>
            <a:pPr algn="r" marL="0" indent="0" lvl="0">
              <a:lnSpc>
                <a:spcPts val="8490"/>
              </a:lnSpc>
              <a:spcBef>
                <a:spcPct val="0"/>
              </a:spcBef>
            </a:pPr>
            <a:r>
              <a:rPr lang="en-US" sz="10885" spc="-859" u="none">
                <a:solidFill>
                  <a:srgbClr val="000000"/>
                </a:solidFill>
                <a:latin typeface="Archivo Black"/>
                <a:ea typeface="Archivo Black"/>
                <a:cs typeface="Archivo Black"/>
                <a:sym typeface="Archivo Black"/>
              </a:rPr>
              <a:t>PROJECT</a:t>
            </a:r>
          </a:p>
          <a:p>
            <a:pPr algn="r" marL="0" indent="0" lvl="0">
              <a:lnSpc>
                <a:spcPts val="8490"/>
              </a:lnSpc>
              <a:spcBef>
                <a:spcPct val="0"/>
              </a:spcBef>
            </a:pPr>
            <a:r>
              <a:rPr lang="en-US" sz="10885" spc="-859" u="none">
                <a:solidFill>
                  <a:srgbClr val="000000"/>
                </a:solidFill>
                <a:latin typeface="Archivo Black"/>
                <a:ea typeface="Archivo Black"/>
                <a:cs typeface="Archivo Black"/>
                <a:sym typeface="Archivo Black"/>
              </a:rPr>
              <a:t>UTS (MQTT)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aphicFrame>
        <p:nvGraphicFramePr>
          <p:cNvPr name="Table 3" id="3"/>
          <p:cNvGraphicFramePr>
            <a:graphicFrameLocks noGrp="true"/>
          </p:cNvGraphicFramePr>
          <p:nvPr/>
        </p:nvGraphicFramePr>
        <p:xfrm>
          <a:off x="10199594" y="1814512"/>
          <a:ext cx="6511183" cy="4114800"/>
        </p:xfrm>
        <a:graphic>
          <a:graphicData uri="http://schemas.openxmlformats.org/drawingml/2006/table">
            <a:tbl>
              <a:tblPr/>
              <a:tblGrid>
                <a:gridCol w="5025021"/>
              </a:tblGrid>
              <a:tr h="822960">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Overview</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2960">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Testing MQTT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2960">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Cek MQTT di Wireshark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2960">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Perbedaan QoS 0 - 2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2960">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Kesimpulan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06637" y="1559650"/>
            <a:ext cx="9125543" cy="7167700"/>
          </a:xfrm>
          <a:custGeom>
            <a:avLst/>
            <a:gdLst/>
            <a:ahLst/>
            <a:cxnLst/>
            <a:rect r="r" b="b" t="t" l="l"/>
            <a:pathLst>
              <a:path h="7167700" w="9125543">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9313" y="0"/>
            <a:ext cx="3488687" cy="1198840"/>
          </a:xfrm>
          <a:custGeom>
            <a:avLst/>
            <a:gdLst/>
            <a:ahLst/>
            <a:cxnLst/>
            <a:rect r="r" b="b" t="t" l="l"/>
            <a:pathLst>
              <a:path h="1198840" w="3488687">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604641" y="2439692"/>
            <a:ext cx="6531462" cy="785630"/>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FFFFFF"/>
                </a:solidFill>
                <a:latin typeface="Archivo Black"/>
                <a:ea typeface="Archivo Black"/>
                <a:cs typeface="Archivo Black"/>
                <a:sym typeface="Archivo Black"/>
              </a:rPr>
              <a:t>CONTENT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9144000" y="2605104"/>
            <a:ext cx="8387321" cy="4701790"/>
          </a:xfrm>
          <a:custGeom>
            <a:avLst/>
            <a:gdLst/>
            <a:ahLst/>
            <a:cxnLst/>
            <a:rect r="r" b="b" t="t" l="l"/>
            <a:pathLst>
              <a:path h="4701790" w="8387321">
                <a:moveTo>
                  <a:pt x="0" y="0"/>
                </a:moveTo>
                <a:lnTo>
                  <a:pt x="8387321" y="0"/>
                </a:lnTo>
                <a:lnTo>
                  <a:pt x="8387321" y="4701790"/>
                </a:lnTo>
                <a:lnTo>
                  <a:pt x="0" y="4701790"/>
                </a:lnTo>
                <a:lnTo>
                  <a:pt x="0" y="0"/>
                </a:lnTo>
                <a:close/>
              </a:path>
            </a:pathLst>
          </a:custGeom>
          <a:blipFill>
            <a:blip r:embed="rId3"/>
            <a:stretch>
              <a:fillRect l="-2820" t="-727" r="0" b="-11749"/>
            </a:stretch>
          </a:blipFill>
        </p:spPr>
      </p:sp>
      <p:sp>
        <p:nvSpPr>
          <p:cNvPr name="TextBox 4" id="4"/>
          <p:cNvSpPr txBox="true"/>
          <p:nvPr/>
        </p:nvSpPr>
        <p:spPr>
          <a:xfrm rot="0">
            <a:off x="13430366" y="1507665"/>
            <a:ext cx="3828934" cy="692001"/>
          </a:xfrm>
          <a:prstGeom prst="rect">
            <a:avLst/>
          </a:prstGeom>
        </p:spPr>
        <p:txBody>
          <a:bodyPr anchor="t" rtlCol="false" tIns="0" lIns="0" bIns="0" rIns="0">
            <a:spAutoFit/>
          </a:bodyPr>
          <a:lstStyle/>
          <a:p>
            <a:pPr algn="r">
              <a:lnSpc>
                <a:spcPts val="2800"/>
              </a:lnSpc>
            </a:pPr>
            <a:r>
              <a:rPr lang="en-US" sz="2000">
                <a:solidFill>
                  <a:srgbClr val="000000"/>
                </a:solidFill>
                <a:latin typeface="Garet"/>
                <a:ea typeface="Garet"/>
                <a:cs typeface="Garet"/>
                <a:sym typeface="Garet"/>
              </a:rPr>
              <a:t>MQTT (Message Queuing Telemetry Transport)</a:t>
            </a:r>
          </a:p>
        </p:txBody>
      </p:sp>
      <p:sp>
        <p:nvSpPr>
          <p:cNvPr name="TextBox 5" id="5"/>
          <p:cNvSpPr txBox="true"/>
          <p:nvPr/>
        </p:nvSpPr>
        <p:spPr>
          <a:xfrm rot="0">
            <a:off x="1385566" y="1699590"/>
            <a:ext cx="7420027" cy="2453754"/>
          </a:xfrm>
          <a:prstGeom prst="rect">
            <a:avLst/>
          </a:prstGeom>
        </p:spPr>
        <p:txBody>
          <a:bodyPr anchor="t" rtlCol="false" tIns="0" lIns="0" bIns="0" rIns="0">
            <a:spAutoFit/>
          </a:bodyPr>
          <a:lstStyle/>
          <a:p>
            <a:pPr algn="just">
              <a:lnSpc>
                <a:spcPts val="2800"/>
              </a:lnSpc>
            </a:pPr>
            <a:r>
              <a:rPr lang="en-US" b="true" sz="2000">
                <a:solidFill>
                  <a:srgbClr val="000000"/>
                </a:solidFill>
                <a:latin typeface="Garet Bold"/>
                <a:ea typeface="Garet Bold"/>
                <a:cs typeface="Garet Bold"/>
                <a:sym typeface="Garet Bold"/>
              </a:rPr>
              <a:t>MQTT (Message Queuing Telemetry Transport)</a:t>
            </a:r>
            <a:r>
              <a:rPr lang="en-US" sz="2000">
                <a:solidFill>
                  <a:srgbClr val="000000"/>
                </a:solidFill>
                <a:latin typeface="Garet"/>
                <a:ea typeface="Garet"/>
                <a:cs typeface="Garet"/>
                <a:sym typeface="Garet"/>
              </a:rPr>
              <a:t> adalah standar pesan protolol yang banyak digunakan pada IoT dan machine-to-machine communication dengan arsitektur publisher mengirim pesan ke MQTT broker, lalu MQTT broker menerima pesan lalu mengirimkan ke subscribe sesuai topic yang dipilih, dan setelah itu subscriber menerima pesan</a:t>
            </a:r>
          </a:p>
        </p:txBody>
      </p:sp>
      <p:sp>
        <p:nvSpPr>
          <p:cNvPr name="TextBox 6" id="6"/>
          <p:cNvSpPr txBox="true"/>
          <p:nvPr/>
        </p:nvSpPr>
        <p:spPr>
          <a:xfrm rot="0">
            <a:off x="10055907" y="683473"/>
            <a:ext cx="7203393" cy="785704"/>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Overview</a:t>
            </a:r>
          </a:p>
        </p:txBody>
      </p:sp>
      <p:sp>
        <p:nvSpPr>
          <p:cNvPr name="TextBox 7" id="7"/>
          <p:cNvSpPr txBox="true"/>
          <p:nvPr/>
        </p:nvSpPr>
        <p:spPr>
          <a:xfrm rot="0">
            <a:off x="1385566" y="5105400"/>
            <a:ext cx="7420027" cy="2806105"/>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pada dunia nyata contohnya seperti perusahaan makanan, yang mana perusahaan makanan ini perlu untuk menjaga suhu penyimpanan makanannya agar tetap stabil sehingga kerusakan pada produk pun tidak terjadi. MQTT merupakan solusi yang bagus untuk proses bisnis tersebut seperti sensor suhu mengirim data secara berkala dan memberikan alarm jika suhu melewati batas minimal ataupun maksimal</a:t>
            </a:r>
          </a:p>
        </p:txBody>
      </p:sp>
      <p:sp>
        <p:nvSpPr>
          <p:cNvPr name="TextBox 8" id="8"/>
          <p:cNvSpPr txBox="true"/>
          <p:nvPr/>
        </p:nvSpPr>
        <p:spPr>
          <a:xfrm rot="0">
            <a:off x="1385566" y="1083736"/>
            <a:ext cx="4245588" cy="462030"/>
          </a:xfrm>
          <a:prstGeom prst="rect">
            <a:avLst/>
          </a:prstGeom>
        </p:spPr>
        <p:txBody>
          <a:bodyPr anchor="t" rtlCol="false" tIns="0" lIns="0" bIns="0" rIns="0">
            <a:spAutoFit/>
          </a:bodyPr>
          <a:lstStyle/>
          <a:p>
            <a:pPr algn="just" marL="0" indent="0" lvl="0">
              <a:lnSpc>
                <a:spcPts val="3423"/>
              </a:lnSpc>
              <a:spcBef>
                <a:spcPct val="0"/>
              </a:spcBef>
            </a:pPr>
            <a:r>
              <a:rPr lang="en-US" sz="3423" spc="-270">
                <a:solidFill>
                  <a:srgbClr val="000000"/>
                </a:solidFill>
                <a:latin typeface="Archivo Black"/>
                <a:ea typeface="Archivo Black"/>
                <a:cs typeface="Archivo Black"/>
                <a:sym typeface="Archivo Black"/>
              </a:rPr>
              <a:t>Pengertian</a:t>
            </a:r>
          </a:p>
        </p:txBody>
      </p:sp>
      <p:sp>
        <p:nvSpPr>
          <p:cNvPr name="TextBox 9" id="9"/>
          <p:cNvSpPr txBox="true"/>
          <p:nvPr/>
        </p:nvSpPr>
        <p:spPr>
          <a:xfrm rot="0">
            <a:off x="1385566" y="4493969"/>
            <a:ext cx="5109252" cy="462030"/>
          </a:xfrm>
          <a:prstGeom prst="rect">
            <a:avLst/>
          </a:prstGeom>
        </p:spPr>
        <p:txBody>
          <a:bodyPr anchor="t" rtlCol="false" tIns="0" lIns="0" bIns="0" rIns="0">
            <a:spAutoFit/>
          </a:bodyPr>
          <a:lstStyle/>
          <a:p>
            <a:pPr algn="just" marL="0" indent="0" lvl="0">
              <a:lnSpc>
                <a:spcPts val="3423"/>
              </a:lnSpc>
              <a:spcBef>
                <a:spcPct val="0"/>
              </a:spcBef>
            </a:pPr>
            <a:r>
              <a:rPr lang="en-US" sz="3423" spc="-270">
                <a:solidFill>
                  <a:srgbClr val="000000"/>
                </a:solidFill>
                <a:latin typeface="Archivo Black"/>
                <a:ea typeface="Archivo Black"/>
                <a:cs typeface="Archivo Black"/>
                <a:sym typeface="Archivo Black"/>
              </a:rPr>
              <a:t>Penerapan Dunia Nyata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585133" y="9098509"/>
            <a:ext cx="18873133" cy="0"/>
          </a:xfrm>
          <a:prstGeom prst="line">
            <a:avLst/>
          </a:prstGeom>
          <a:ln cap="rnd" w="9525">
            <a:solidFill>
              <a:srgbClr val="000000"/>
            </a:solidFill>
            <a:prstDash val="solid"/>
            <a:headEnd type="none" len="sm" w="sm"/>
            <a:tailEnd type="none" len="sm" w="sm"/>
          </a:ln>
        </p:spPr>
      </p:sp>
      <p:sp>
        <p:nvSpPr>
          <p:cNvPr name="AutoShape 3" id="3"/>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4" id="4"/>
          <p:cNvSpPr/>
          <p:nvPr/>
        </p:nvSpPr>
        <p:spPr>
          <a:xfrm flipH="false" flipV="false" rot="-10800000">
            <a:off x="15676972" y="-595086"/>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09098" y="1462314"/>
            <a:ext cx="5183756" cy="5339649"/>
          </a:xfrm>
          <a:custGeom>
            <a:avLst/>
            <a:gdLst/>
            <a:ahLst/>
            <a:cxnLst/>
            <a:rect r="r" b="b" t="t" l="l"/>
            <a:pathLst>
              <a:path h="5339649" w="5183756">
                <a:moveTo>
                  <a:pt x="0" y="0"/>
                </a:moveTo>
                <a:lnTo>
                  <a:pt x="5183756" y="0"/>
                </a:lnTo>
                <a:lnTo>
                  <a:pt x="5183756" y="5339649"/>
                </a:lnTo>
                <a:lnTo>
                  <a:pt x="0" y="5339649"/>
                </a:lnTo>
                <a:lnTo>
                  <a:pt x="0" y="0"/>
                </a:lnTo>
                <a:close/>
              </a:path>
            </a:pathLst>
          </a:custGeom>
          <a:blipFill>
            <a:blip r:embed="rId4"/>
            <a:stretch>
              <a:fillRect l="0" t="0" r="0" b="-69517"/>
            </a:stretch>
          </a:blipFill>
        </p:spPr>
      </p:sp>
      <p:sp>
        <p:nvSpPr>
          <p:cNvPr name="Freeform 6" id="6"/>
          <p:cNvSpPr/>
          <p:nvPr/>
        </p:nvSpPr>
        <p:spPr>
          <a:xfrm flipH="false" flipV="false" rot="0">
            <a:off x="5792854" y="1581850"/>
            <a:ext cx="9884119" cy="4299592"/>
          </a:xfrm>
          <a:custGeom>
            <a:avLst/>
            <a:gdLst/>
            <a:ahLst/>
            <a:cxnLst/>
            <a:rect r="r" b="b" t="t" l="l"/>
            <a:pathLst>
              <a:path h="4299592" w="9884119">
                <a:moveTo>
                  <a:pt x="0" y="0"/>
                </a:moveTo>
                <a:lnTo>
                  <a:pt x="9884118" y="0"/>
                </a:lnTo>
                <a:lnTo>
                  <a:pt x="9884118" y="4299591"/>
                </a:lnTo>
                <a:lnTo>
                  <a:pt x="0" y="4299591"/>
                </a:lnTo>
                <a:lnTo>
                  <a:pt x="0" y="0"/>
                </a:lnTo>
                <a:close/>
              </a:path>
            </a:pathLst>
          </a:custGeom>
          <a:blipFill>
            <a:blip r:embed="rId5"/>
            <a:stretch>
              <a:fillRect l="0" t="0" r="0" b="0"/>
            </a:stretch>
          </a:blipFill>
        </p:spPr>
      </p:sp>
      <p:grpSp>
        <p:nvGrpSpPr>
          <p:cNvPr name="Group 7" id="7"/>
          <p:cNvGrpSpPr/>
          <p:nvPr/>
        </p:nvGrpSpPr>
        <p:grpSpPr>
          <a:xfrm rot="0">
            <a:off x="13037526" y="5365114"/>
            <a:ext cx="1036176" cy="665816"/>
            <a:chOff x="0" y="0"/>
            <a:chExt cx="632460" cy="406400"/>
          </a:xfrm>
        </p:grpSpPr>
        <p:sp>
          <p:nvSpPr>
            <p:cNvPr name="Freeform 8" id="8"/>
            <p:cNvSpPr/>
            <p:nvPr/>
          </p:nvSpPr>
          <p:spPr>
            <a:xfrm flipH="false" flipV="false" rot="0">
              <a:off x="42668" y="48001"/>
              <a:ext cx="539340" cy="306329"/>
            </a:xfrm>
            <a:custGeom>
              <a:avLst/>
              <a:gdLst/>
              <a:ahLst/>
              <a:cxnLst/>
              <a:rect r="r" b="b" t="t" l="l"/>
              <a:pathLst>
                <a:path h="306329" w="539340">
                  <a:moveTo>
                    <a:pt x="495812" y="87889"/>
                  </a:moveTo>
                  <a:cubicBezTo>
                    <a:pt x="150372" y="58679"/>
                    <a:pt x="145292" y="58679"/>
                    <a:pt x="133862" y="62489"/>
                  </a:cubicBezTo>
                  <a:cubicBezTo>
                    <a:pt x="118622" y="70109"/>
                    <a:pt x="98302" y="87889"/>
                    <a:pt x="86872" y="99319"/>
                  </a:cubicBezTo>
                  <a:cubicBezTo>
                    <a:pt x="77982" y="108209"/>
                    <a:pt x="71632" y="113289"/>
                    <a:pt x="67822" y="124719"/>
                  </a:cubicBezTo>
                  <a:cubicBezTo>
                    <a:pt x="61472" y="139959"/>
                    <a:pt x="61472" y="166629"/>
                    <a:pt x="61472" y="183139"/>
                  </a:cubicBezTo>
                  <a:cubicBezTo>
                    <a:pt x="61472" y="195839"/>
                    <a:pt x="60202" y="207269"/>
                    <a:pt x="66552" y="214889"/>
                  </a:cubicBezTo>
                  <a:cubicBezTo>
                    <a:pt x="71632" y="225049"/>
                    <a:pt x="83062" y="230129"/>
                    <a:pt x="98302" y="236479"/>
                  </a:cubicBezTo>
                  <a:cubicBezTo>
                    <a:pt x="121162" y="244099"/>
                    <a:pt x="165612" y="247909"/>
                    <a:pt x="201172" y="249179"/>
                  </a:cubicBezTo>
                  <a:cubicBezTo>
                    <a:pt x="239272" y="250449"/>
                    <a:pt x="284992" y="245369"/>
                    <a:pt x="318012" y="240289"/>
                  </a:cubicBezTo>
                  <a:cubicBezTo>
                    <a:pt x="343412" y="236479"/>
                    <a:pt x="365002" y="233939"/>
                    <a:pt x="385322" y="225049"/>
                  </a:cubicBezTo>
                  <a:cubicBezTo>
                    <a:pt x="405642" y="216159"/>
                    <a:pt x="425962" y="207269"/>
                    <a:pt x="442472" y="186949"/>
                  </a:cubicBezTo>
                  <a:cubicBezTo>
                    <a:pt x="466602" y="155199"/>
                    <a:pt x="467872" y="45979"/>
                    <a:pt x="492002" y="32009"/>
                  </a:cubicBezTo>
                  <a:cubicBezTo>
                    <a:pt x="503432" y="24389"/>
                    <a:pt x="526292" y="32009"/>
                    <a:pt x="533912" y="39629"/>
                  </a:cubicBezTo>
                  <a:cubicBezTo>
                    <a:pt x="538992" y="45979"/>
                    <a:pt x="538992" y="58679"/>
                    <a:pt x="535182" y="66299"/>
                  </a:cubicBezTo>
                  <a:cubicBezTo>
                    <a:pt x="532642" y="73919"/>
                    <a:pt x="522482" y="82809"/>
                    <a:pt x="514862" y="84079"/>
                  </a:cubicBezTo>
                  <a:cubicBezTo>
                    <a:pt x="505972" y="85349"/>
                    <a:pt x="493272" y="81539"/>
                    <a:pt x="488192" y="75189"/>
                  </a:cubicBezTo>
                  <a:cubicBezTo>
                    <a:pt x="481842" y="70109"/>
                    <a:pt x="476762" y="57409"/>
                    <a:pt x="480572" y="49789"/>
                  </a:cubicBezTo>
                  <a:cubicBezTo>
                    <a:pt x="483112" y="39629"/>
                    <a:pt x="505972" y="25659"/>
                    <a:pt x="516132" y="26929"/>
                  </a:cubicBezTo>
                  <a:cubicBezTo>
                    <a:pt x="525022" y="28199"/>
                    <a:pt x="535182" y="39629"/>
                    <a:pt x="537722" y="54869"/>
                  </a:cubicBezTo>
                  <a:cubicBezTo>
                    <a:pt x="545342" y="85349"/>
                    <a:pt x="525022" y="183139"/>
                    <a:pt x="498352" y="221239"/>
                  </a:cubicBezTo>
                  <a:cubicBezTo>
                    <a:pt x="476762" y="250449"/>
                    <a:pt x="446282" y="261879"/>
                    <a:pt x="409452" y="274579"/>
                  </a:cubicBezTo>
                  <a:cubicBezTo>
                    <a:pt x="359922" y="293629"/>
                    <a:pt x="277372" y="305059"/>
                    <a:pt x="216412" y="306329"/>
                  </a:cubicBezTo>
                  <a:cubicBezTo>
                    <a:pt x="164342" y="306329"/>
                    <a:pt x="105922" y="301249"/>
                    <a:pt x="69092" y="286009"/>
                  </a:cubicBezTo>
                  <a:cubicBezTo>
                    <a:pt x="43692" y="274579"/>
                    <a:pt x="24642" y="260609"/>
                    <a:pt x="13212" y="237749"/>
                  </a:cubicBezTo>
                  <a:cubicBezTo>
                    <a:pt x="-2028" y="207269"/>
                    <a:pt x="-4568" y="143769"/>
                    <a:pt x="8132" y="109479"/>
                  </a:cubicBezTo>
                  <a:cubicBezTo>
                    <a:pt x="18292" y="78999"/>
                    <a:pt x="51312" y="53599"/>
                    <a:pt x="74172" y="35819"/>
                  </a:cubicBezTo>
                  <a:cubicBezTo>
                    <a:pt x="91952" y="23119"/>
                    <a:pt x="105922" y="14229"/>
                    <a:pt x="128782" y="7879"/>
                  </a:cubicBezTo>
                  <a:cubicBezTo>
                    <a:pt x="163072" y="-2281"/>
                    <a:pt x="213872" y="-1011"/>
                    <a:pt x="264672" y="2799"/>
                  </a:cubicBezTo>
                  <a:cubicBezTo>
                    <a:pt x="333252" y="5339"/>
                    <a:pt x="467872" y="15499"/>
                    <a:pt x="502162" y="35819"/>
                  </a:cubicBezTo>
                  <a:cubicBezTo>
                    <a:pt x="514862" y="44709"/>
                    <a:pt x="522482" y="56139"/>
                    <a:pt x="522482" y="65029"/>
                  </a:cubicBezTo>
                  <a:cubicBezTo>
                    <a:pt x="521212" y="73919"/>
                    <a:pt x="495812" y="87889"/>
                    <a:pt x="495812" y="87889"/>
                  </a:cubicBezTo>
                </a:path>
              </a:pathLst>
            </a:custGeom>
            <a:solidFill>
              <a:srgbClr val="14AE5C"/>
            </a:solidFill>
            <a:ln cap="sq">
              <a:noFill/>
              <a:prstDash val="solid"/>
              <a:miter/>
            </a:ln>
          </p:spPr>
        </p:sp>
      </p:grpSp>
      <p:grpSp>
        <p:nvGrpSpPr>
          <p:cNvPr name="Group 9" id="9"/>
          <p:cNvGrpSpPr/>
          <p:nvPr/>
        </p:nvGrpSpPr>
        <p:grpSpPr>
          <a:xfrm rot="0">
            <a:off x="5792854" y="3117910"/>
            <a:ext cx="3086100" cy="1142437"/>
            <a:chOff x="0" y="0"/>
            <a:chExt cx="812800" cy="300889"/>
          </a:xfrm>
        </p:grpSpPr>
        <p:sp>
          <p:nvSpPr>
            <p:cNvPr name="Freeform 10" id="10"/>
            <p:cNvSpPr/>
            <p:nvPr/>
          </p:nvSpPr>
          <p:spPr>
            <a:xfrm flipH="false" flipV="false" rot="0">
              <a:off x="0" y="0"/>
              <a:ext cx="812800" cy="300889"/>
            </a:xfrm>
            <a:custGeom>
              <a:avLst/>
              <a:gdLst/>
              <a:ahLst/>
              <a:cxnLst/>
              <a:rect r="r" b="b" t="t" l="l"/>
              <a:pathLst>
                <a:path h="300889" w="812800">
                  <a:moveTo>
                    <a:pt x="406400" y="0"/>
                  </a:moveTo>
                  <a:cubicBezTo>
                    <a:pt x="181951" y="0"/>
                    <a:pt x="0" y="67356"/>
                    <a:pt x="0" y="150444"/>
                  </a:cubicBezTo>
                  <a:cubicBezTo>
                    <a:pt x="0" y="233533"/>
                    <a:pt x="181951" y="300889"/>
                    <a:pt x="406400" y="300889"/>
                  </a:cubicBezTo>
                  <a:cubicBezTo>
                    <a:pt x="630849" y="300889"/>
                    <a:pt x="812800" y="233533"/>
                    <a:pt x="812800" y="150444"/>
                  </a:cubicBezTo>
                  <a:cubicBezTo>
                    <a:pt x="812800" y="67356"/>
                    <a:pt x="630849" y="0"/>
                    <a:pt x="406400" y="0"/>
                  </a:cubicBezTo>
                  <a:close/>
                </a:path>
              </a:pathLst>
            </a:custGeom>
            <a:solidFill>
              <a:srgbClr val="FFFFFF"/>
            </a:solidFill>
          </p:spPr>
        </p:sp>
        <p:sp>
          <p:nvSpPr>
            <p:cNvPr name="TextBox 11" id="11"/>
            <p:cNvSpPr txBox="true"/>
            <p:nvPr/>
          </p:nvSpPr>
          <p:spPr>
            <a:xfrm>
              <a:off x="76200" y="9158"/>
              <a:ext cx="660400" cy="263522"/>
            </a:xfrm>
            <a:prstGeom prst="rect">
              <a:avLst/>
            </a:prstGeom>
          </p:spPr>
          <p:txBody>
            <a:bodyPr anchor="ctr" rtlCol="false" tIns="50800" lIns="50800" bIns="50800" rIns="50800"/>
            <a:lstStyle/>
            <a:p>
              <a:pPr algn="ctr">
                <a:lnSpc>
                  <a:spcPts val="2859"/>
                </a:lnSpc>
              </a:pPr>
            </a:p>
          </p:txBody>
        </p:sp>
      </p:grpSp>
      <p:sp>
        <p:nvSpPr>
          <p:cNvPr name="TextBox 12" id="12"/>
          <p:cNvSpPr txBox="true"/>
          <p:nvPr/>
        </p:nvSpPr>
        <p:spPr>
          <a:xfrm rot="0">
            <a:off x="1028700" y="566880"/>
            <a:ext cx="7279037" cy="785630"/>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Testing MQTT</a:t>
            </a:r>
          </a:p>
        </p:txBody>
      </p:sp>
      <p:sp>
        <p:nvSpPr>
          <p:cNvPr name="TextBox 13" id="13"/>
          <p:cNvSpPr txBox="true"/>
          <p:nvPr/>
        </p:nvSpPr>
        <p:spPr>
          <a:xfrm rot="0">
            <a:off x="6179810" y="6211905"/>
            <a:ext cx="8823356" cy="737310"/>
          </a:xfrm>
          <a:prstGeom prst="rect">
            <a:avLst/>
          </a:prstGeom>
        </p:spPr>
        <p:txBody>
          <a:bodyPr anchor="t" rtlCol="false" tIns="0" lIns="0" bIns="0" rIns="0">
            <a:spAutoFit/>
          </a:bodyPr>
          <a:lstStyle/>
          <a:p>
            <a:pPr algn="l">
              <a:lnSpc>
                <a:spcPts val="2939"/>
              </a:lnSpc>
              <a:spcBef>
                <a:spcPct val="0"/>
              </a:spcBef>
            </a:pPr>
            <a:r>
              <a:rPr lang="en-US" b="true" sz="2099">
                <a:solidFill>
                  <a:srgbClr val="000000"/>
                </a:solidFill>
                <a:latin typeface="Garet Bold"/>
                <a:ea typeface="Garet Bold"/>
                <a:cs typeface="Garet Bold"/>
                <a:sym typeface="Garet Bold"/>
              </a:rPr>
              <a:t>Step 1</a:t>
            </a:r>
            <a:r>
              <a:rPr lang="en-US" sz="2099">
                <a:solidFill>
                  <a:srgbClr val="000000"/>
                </a:solidFill>
                <a:latin typeface="Garet"/>
                <a:ea typeface="Garet"/>
                <a:cs typeface="Garet"/>
                <a:sym typeface="Garet"/>
              </a:rPr>
              <a:t> : Buka postman dan pilih MQTT setelah itu masukan URL MQTT = mqtt://127.0.0.1:1883, setelah itu tekan connect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566880"/>
            <a:ext cx="7279037" cy="785630"/>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Testing MQTT</a:t>
            </a:r>
          </a:p>
        </p:txBody>
      </p:sp>
      <p:sp>
        <p:nvSpPr>
          <p:cNvPr name="Freeform 4" id="4"/>
          <p:cNvSpPr/>
          <p:nvPr/>
        </p:nvSpPr>
        <p:spPr>
          <a:xfrm flipH="false" flipV="false" rot="0">
            <a:off x="1028700" y="1491337"/>
            <a:ext cx="8599264" cy="3479807"/>
          </a:xfrm>
          <a:custGeom>
            <a:avLst/>
            <a:gdLst/>
            <a:ahLst/>
            <a:cxnLst/>
            <a:rect r="r" b="b" t="t" l="l"/>
            <a:pathLst>
              <a:path h="3479807" w="8599264">
                <a:moveTo>
                  <a:pt x="0" y="0"/>
                </a:moveTo>
                <a:lnTo>
                  <a:pt x="8599264" y="0"/>
                </a:lnTo>
                <a:lnTo>
                  <a:pt x="8599264" y="3479807"/>
                </a:lnTo>
                <a:lnTo>
                  <a:pt x="0" y="3479807"/>
                </a:lnTo>
                <a:lnTo>
                  <a:pt x="0" y="0"/>
                </a:lnTo>
                <a:close/>
              </a:path>
            </a:pathLst>
          </a:custGeom>
          <a:blipFill>
            <a:blip r:embed="rId3"/>
            <a:stretch>
              <a:fillRect l="0" t="0" r="0" b="-28501"/>
            </a:stretch>
          </a:blipFill>
        </p:spPr>
      </p:sp>
      <p:grpSp>
        <p:nvGrpSpPr>
          <p:cNvPr name="Group 5" id="5"/>
          <p:cNvGrpSpPr/>
          <p:nvPr/>
        </p:nvGrpSpPr>
        <p:grpSpPr>
          <a:xfrm rot="0">
            <a:off x="1218402" y="2109150"/>
            <a:ext cx="5194880" cy="948508"/>
            <a:chOff x="0" y="0"/>
            <a:chExt cx="3763010" cy="687070"/>
          </a:xfrm>
        </p:grpSpPr>
        <p:sp>
          <p:nvSpPr>
            <p:cNvPr name="Freeform 6" id="6"/>
            <p:cNvSpPr/>
            <p:nvPr/>
          </p:nvSpPr>
          <p:spPr>
            <a:xfrm flipH="false" flipV="false" rot="0">
              <a:off x="50800" y="38645"/>
              <a:ext cx="3662117" cy="597625"/>
            </a:xfrm>
            <a:custGeom>
              <a:avLst/>
              <a:gdLst/>
              <a:ahLst/>
              <a:cxnLst/>
              <a:rect r="r" b="b" t="t" l="l"/>
              <a:pathLst>
                <a:path h="597625" w="3662117">
                  <a:moveTo>
                    <a:pt x="12700" y="32475"/>
                  </a:moveTo>
                  <a:cubicBezTo>
                    <a:pt x="2505710" y="35015"/>
                    <a:pt x="2503170" y="24855"/>
                    <a:pt x="2578100" y="19775"/>
                  </a:cubicBezTo>
                  <a:cubicBezTo>
                    <a:pt x="2771140" y="7075"/>
                    <a:pt x="3510280" y="-13245"/>
                    <a:pt x="3616960" y="12155"/>
                  </a:cubicBezTo>
                  <a:cubicBezTo>
                    <a:pt x="3637280" y="17235"/>
                    <a:pt x="3646170" y="21045"/>
                    <a:pt x="3652520" y="29935"/>
                  </a:cubicBezTo>
                  <a:cubicBezTo>
                    <a:pt x="3656330" y="36285"/>
                    <a:pt x="3655060" y="40095"/>
                    <a:pt x="3656330" y="52795"/>
                  </a:cubicBezTo>
                  <a:cubicBezTo>
                    <a:pt x="3660140" y="107405"/>
                    <a:pt x="3644900" y="416015"/>
                    <a:pt x="3649980" y="504915"/>
                  </a:cubicBezTo>
                  <a:cubicBezTo>
                    <a:pt x="3652520" y="541745"/>
                    <a:pt x="3665220" y="567145"/>
                    <a:pt x="3661410" y="582385"/>
                  </a:cubicBezTo>
                  <a:cubicBezTo>
                    <a:pt x="3658870" y="590005"/>
                    <a:pt x="3653790" y="597625"/>
                    <a:pt x="3649980" y="597625"/>
                  </a:cubicBezTo>
                  <a:cubicBezTo>
                    <a:pt x="3646170" y="597625"/>
                    <a:pt x="3636010" y="579845"/>
                    <a:pt x="3638550" y="577305"/>
                  </a:cubicBezTo>
                  <a:cubicBezTo>
                    <a:pt x="3639820" y="574765"/>
                    <a:pt x="3656330" y="574765"/>
                    <a:pt x="3658870" y="577305"/>
                  </a:cubicBezTo>
                  <a:cubicBezTo>
                    <a:pt x="3661410" y="579845"/>
                    <a:pt x="3661410" y="590005"/>
                    <a:pt x="3657600" y="592545"/>
                  </a:cubicBezTo>
                  <a:cubicBezTo>
                    <a:pt x="3655060" y="596355"/>
                    <a:pt x="3644900" y="597625"/>
                    <a:pt x="3639820" y="593815"/>
                  </a:cubicBezTo>
                  <a:cubicBezTo>
                    <a:pt x="3630930" y="587465"/>
                    <a:pt x="3628390" y="568415"/>
                    <a:pt x="3624580" y="541745"/>
                  </a:cubicBezTo>
                  <a:cubicBezTo>
                    <a:pt x="3614420" y="463005"/>
                    <a:pt x="3646170" y="126455"/>
                    <a:pt x="3629660" y="64225"/>
                  </a:cubicBezTo>
                  <a:cubicBezTo>
                    <a:pt x="3625850" y="47715"/>
                    <a:pt x="3627120" y="43905"/>
                    <a:pt x="3613150" y="35015"/>
                  </a:cubicBezTo>
                  <a:cubicBezTo>
                    <a:pt x="3534410" y="-9435"/>
                    <a:pt x="2772410" y="27395"/>
                    <a:pt x="2579370" y="40095"/>
                  </a:cubicBezTo>
                  <a:cubicBezTo>
                    <a:pt x="2504440" y="45175"/>
                    <a:pt x="2504440" y="55335"/>
                    <a:pt x="2423160" y="60415"/>
                  </a:cubicBezTo>
                  <a:cubicBezTo>
                    <a:pt x="2142490" y="79465"/>
                    <a:pt x="960120" y="62955"/>
                    <a:pt x="527050" y="61685"/>
                  </a:cubicBezTo>
                  <a:cubicBezTo>
                    <a:pt x="302260" y="60415"/>
                    <a:pt x="58420" y="78195"/>
                    <a:pt x="12700" y="57875"/>
                  </a:cubicBezTo>
                  <a:cubicBezTo>
                    <a:pt x="3810" y="54065"/>
                    <a:pt x="0" y="47715"/>
                    <a:pt x="0" y="43905"/>
                  </a:cubicBezTo>
                  <a:cubicBezTo>
                    <a:pt x="0" y="40095"/>
                    <a:pt x="12700" y="32475"/>
                    <a:pt x="12700" y="32475"/>
                  </a:cubicBezTo>
                </a:path>
              </a:pathLst>
            </a:custGeom>
            <a:solidFill>
              <a:srgbClr val="14AE5C"/>
            </a:solidFill>
            <a:ln cap="sq">
              <a:noFill/>
              <a:prstDash val="solid"/>
              <a:miter/>
            </a:ln>
          </p:spPr>
        </p:sp>
      </p:grpSp>
      <p:grpSp>
        <p:nvGrpSpPr>
          <p:cNvPr name="Group 7" id="7"/>
          <p:cNvGrpSpPr/>
          <p:nvPr/>
        </p:nvGrpSpPr>
        <p:grpSpPr>
          <a:xfrm rot="0">
            <a:off x="1213142" y="2849022"/>
            <a:ext cx="5228192" cy="248962"/>
            <a:chOff x="0" y="0"/>
            <a:chExt cx="3787140" cy="180340"/>
          </a:xfrm>
        </p:grpSpPr>
        <p:sp>
          <p:nvSpPr>
            <p:cNvPr name="Freeform 8" id="8"/>
            <p:cNvSpPr/>
            <p:nvPr/>
          </p:nvSpPr>
          <p:spPr>
            <a:xfrm flipH="false" flipV="false" rot="0">
              <a:off x="50800" y="49641"/>
              <a:ext cx="3685540" cy="82244"/>
            </a:xfrm>
            <a:custGeom>
              <a:avLst/>
              <a:gdLst/>
              <a:ahLst/>
              <a:cxnLst/>
              <a:rect r="r" b="b" t="t" l="l"/>
              <a:pathLst>
                <a:path h="82244" w="3685540">
                  <a:moveTo>
                    <a:pt x="10160" y="34179"/>
                  </a:moveTo>
                  <a:cubicBezTo>
                    <a:pt x="1311910" y="39259"/>
                    <a:pt x="1544320" y="24019"/>
                    <a:pt x="1788160" y="26559"/>
                  </a:cubicBezTo>
                  <a:cubicBezTo>
                    <a:pt x="2025650" y="30369"/>
                    <a:pt x="2255520" y="53229"/>
                    <a:pt x="2490470" y="59579"/>
                  </a:cubicBezTo>
                  <a:cubicBezTo>
                    <a:pt x="2725420" y="64659"/>
                    <a:pt x="2984500" y="73549"/>
                    <a:pt x="3196590" y="60849"/>
                  </a:cubicBezTo>
                  <a:cubicBezTo>
                    <a:pt x="3371850" y="50689"/>
                    <a:pt x="3625850" y="-9001"/>
                    <a:pt x="3671570" y="1159"/>
                  </a:cubicBezTo>
                  <a:cubicBezTo>
                    <a:pt x="3680460" y="3699"/>
                    <a:pt x="3684270" y="7509"/>
                    <a:pt x="3685540" y="11319"/>
                  </a:cubicBezTo>
                  <a:cubicBezTo>
                    <a:pt x="3685540" y="15129"/>
                    <a:pt x="3679190" y="24019"/>
                    <a:pt x="3675380" y="24019"/>
                  </a:cubicBezTo>
                  <a:cubicBezTo>
                    <a:pt x="3671570" y="24019"/>
                    <a:pt x="3662680" y="17669"/>
                    <a:pt x="3662680" y="13859"/>
                  </a:cubicBezTo>
                  <a:cubicBezTo>
                    <a:pt x="3662680" y="10049"/>
                    <a:pt x="3671570" y="1159"/>
                    <a:pt x="3674110" y="1159"/>
                  </a:cubicBezTo>
                  <a:cubicBezTo>
                    <a:pt x="3677920" y="2429"/>
                    <a:pt x="3683000" y="16399"/>
                    <a:pt x="3680460" y="22749"/>
                  </a:cubicBezTo>
                  <a:cubicBezTo>
                    <a:pt x="3672840" y="35449"/>
                    <a:pt x="3625850" y="36719"/>
                    <a:pt x="3585210" y="43069"/>
                  </a:cubicBezTo>
                  <a:cubicBezTo>
                    <a:pt x="3517900" y="54499"/>
                    <a:pt x="3421380" y="67199"/>
                    <a:pt x="3309620" y="73549"/>
                  </a:cubicBezTo>
                  <a:cubicBezTo>
                    <a:pt x="3134360" y="83709"/>
                    <a:pt x="2874010" y="83709"/>
                    <a:pt x="2640330" y="79899"/>
                  </a:cubicBezTo>
                  <a:cubicBezTo>
                    <a:pt x="2379980" y="76089"/>
                    <a:pt x="2136140" y="54499"/>
                    <a:pt x="1817370" y="49419"/>
                  </a:cubicBezTo>
                  <a:cubicBezTo>
                    <a:pt x="1376680" y="41799"/>
                    <a:pt x="529590" y="60849"/>
                    <a:pt x="238760" y="59579"/>
                  </a:cubicBezTo>
                  <a:cubicBezTo>
                    <a:pt x="128270" y="58309"/>
                    <a:pt x="36830" y="67199"/>
                    <a:pt x="10160" y="55769"/>
                  </a:cubicBezTo>
                  <a:cubicBezTo>
                    <a:pt x="3810" y="51959"/>
                    <a:pt x="0" y="46879"/>
                    <a:pt x="0" y="43069"/>
                  </a:cubicBezTo>
                  <a:cubicBezTo>
                    <a:pt x="0" y="40529"/>
                    <a:pt x="10160" y="34179"/>
                    <a:pt x="10160" y="34179"/>
                  </a:cubicBezTo>
                </a:path>
              </a:pathLst>
            </a:custGeom>
            <a:solidFill>
              <a:srgbClr val="14AE5C"/>
            </a:solidFill>
            <a:ln cap="sq">
              <a:noFill/>
              <a:prstDash val="solid"/>
              <a:miter/>
            </a:ln>
          </p:spPr>
        </p:sp>
      </p:grpSp>
      <p:sp>
        <p:nvSpPr>
          <p:cNvPr name="TextBox 9" id="9"/>
          <p:cNvSpPr txBox="true"/>
          <p:nvPr/>
        </p:nvSpPr>
        <p:spPr>
          <a:xfrm rot="0">
            <a:off x="10141558" y="1145799"/>
            <a:ext cx="8823356" cy="365797"/>
          </a:xfrm>
          <a:prstGeom prst="rect">
            <a:avLst/>
          </a:prstGeom>
        </p:spPr>
        <p:txBody>
          <a:bodyPr anchor="t" rtlCol="false" tIns="0" lIns="0" bIns="0" rIns="0">
            <a:spAutoFit/>
          </a:bodyPr>
          <a:lstStyle/>
          <a:p>
            <a:pPr algn="l">
              <a:lnSpc>
                <a:spcPts val="2939"/>
              </a:lnSpc>
              <a:spcBef>
                <a:spcPct val="0"/>
              </a:spcBef>
            </a:pPr>
            <a:r>
              <a:rPr lang="en-US" b="true" sz="2099">
                <a:solidFill>
                  <a:srgbClr val="000000"/>
                </a:solidFill>
                <a:latin typeface="Garet Bold"/>
                <a:ea typeface="Garet Bold"/>
                <a:cs typeface="Garet Bold"/>
                <a:sym typeface="Garet Bold"/>
              </a:rPr>
              <a:t>Step 2 </a:t>
            </a:r>
            <a:r>
              <a:rPr lang="en-US" sz="2099">
                <a:solidFill>
                  <a:srgbClr val="000000"/>
                </a:solidFill>
                <a:latin typeface="Garet"/>
                <a:ea typeface="Garet"/>
                <a:cs typeface="Garet"/>
                <a:sym typeface="Garet"/>
              </a:rPr>
              <a:t>: Pembuatan Topics</a:t>
            </a:r>
          </a:p>
        </p:txBody>
      </p:sp>
      <p:sp>
        <p:nvSpPr>
          <p:cNvPr name="TextBox 10" id="10"/>
          <p:cNvSpPr txBox="true"/>
          <p:nvPr/>
        </p:nvSpPr>
        <p:spPr>
          <a:xfrm rot="0">
            <a:off x="10141558" y="1617649"/>
            <a:ext cx="8032551" cy="4080919"/>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Topics adalah alamat atau saluran tempat pesan dikirim atau diterima. Arti garis miring tersebut berfungsi mengelompokkan dan merapikan data agar tidak bercampur dikirim.</a:t>
            </a:r>
          </a:p>
          <a:p>
            <a:pPr algn="l" marL="453388" indent="-226694" lvl="1">
              <a:lnSpc>
                <a:spcPts val="2939"/>
              </a:lnSpc>
              <a:buFont typeface="Arial"/>
              <a:buChar char="•"/>
            </a:pPr>
            <a:r>
              <a:rPr lang="en-US" sz="2099">
                <a:solidFill>
                  <a:srgbClr val="000000"/>
                </a:solidFill>
                <a:latin typeface="Garet"/>
                <a:ea typeface="Garet"/>
                <a:cs typeface="Garet"/>
                <a:sym typeface="Garet"/>
              </a:rPr>
              <a:t>QoS menentukan tingkat keandalan pengiriman pesan antara pengirim dan penerima..</a:t>
            </a:r>
          </a:p>
          <a:p>
            <a:pPr algn="l" marL="453388" indent="-226694" lvl="1">
              <a:lnSpc>
                <a:spcPts val="2939"/>
              </a:lnSpc>
              <a:spcBef>
                <a:spcPct val="0"/>
              </a:spcBef>
              <a:buFont typeface="Arial"/>
              <a:buChar char="•"/>
            </a:pPr>
            <a:r>
              <a:rPr lang="en-US" sz="2099">
                <a:solidFill>
                  <a:srgbClr val="000000"/>
                </a:solidFill>
                <a:latin typeface="Garet"/>
                <a:ea typeface="Garet"/>
                <a:cs typeface="Garet"/>
                <a:sym typeface="Garet"/>
              </a:rPr>
              <a:t>Subscirbe menunjukkan status langganan perangkat terhadap topik tersebut. Jadi,akan terus mendengarkan dan menerima setiap pesan yang masuk ke topik project/events melalui perantara (broker) MQTT</a:t>
            </a:r>
          </a:p>
        </p:txBody>
      </p:sp>
      <p:sp>
        <p:nvSpPr>
          <p:cNvPr name="TextBox 11" id="11"/>
          <p:cNvSpPr txBox="true"/>
          <p:nvPr/>
        </p:nvSpPr>
        <p:spPr>
          <a:xfrm rot="0">
            <a:off x="1028700" y="5579688"/>
            <a:ext cx="2594378" cy="275861"/>
          </a:xfrm>
          <a:prstGeom prst="rect">
            <a:avLst/>
          </a:prstGeom>
        </p:spPr>
        <p:txBody>
          <a:bodyPr anchor="t" rtlCol="false" tIns="0" lIns="0" bIns="0" rIns="0">
            <a:spAutoFit/>
          </a:bodyPr>
          <a:lstStyle/>
          <a:p>
            <a:pPr algn="l" marL="0" indent="0" lvl="0">
              <a:lnSpc>
                <a:spcPts val="2070"/>
              </a:lnSpc>
              <a:spcBef>
                <a:spcPct val="0"/>
              </a:spcBef>
            </a:pPr>
            <a:r>
              <a:rPr lang="en-US" sz="2070" spc="-163">
                <a:solidFill>
                  <a:srgbClr val="000000"/>
                </a:solidFill>
                <a:latin typeface="Archivo Black"/>
                <a:ea typeface="Archivo Black"/>
                <a:cs typeface="Archivo Black"/>
                <a:sym typeface="Archivo Black"/>
              </a:rPr>
              <a:t>FYI QoS</a:t>
            </a:r>
          </a:p>
        </p:txBody>
      </p:sp>
      <p:sp>
        <p:nvSpPr>
          <p:cNvPr name="TextBox 12" id="12"/>
          <p:cNvSpPr txBox="true"/>
          <p:nvPr/>
        </p:nvSpPr>
        <p:spPr>
          <a:xfrm rot="0">
            <a:off x="1028700" y="5950800"/>
            <a:ext cx="8032551" cy="2966383"/>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QoS 0 / At Most Once (Fastest)= Publisher → Broker → Subscriber dan jaminannya adalah pesan dikirim sekali &amp; apabila hilang tidak akan dikirim ulang serta jika jaringan terputus pesan akan hilang.</a:t>
            </a:r>
          </a:p>
          <a:p>
            <a:pPr algn="l" marL="453388" indent="-226694" lvl="1">
              <a:lnSpc>
                <a:spcPts val="2939"/>
              </a:lnSpc>
              <a:spcBef>
                <a:spcPct val="0"/>
              </a:spcBef>
              <a:buFont typeface="Arial"/>
              <a:buChar char="•"/>
            </a:pPr>
            <a:r>
              <a:rPr lang="en-US" sz="2099">
                <a:solidFill>
                  <a:srgbClr val="000000"/>
                </a:solidFill>
                <a:latin typeface="Garet"/>
                <a:ea typeface="Garet"/>
                <a:cs typeface="Garet"/>
                <a:sym typeface="Garet"/>
              </a:rPr>
              <a:t>QoS 1 / At Least Once = Publisher → Broker ← PUBACK dan jaminannya adalah pesan pasti sampai, tetapi bisa diterima lebih dari sekali atau duplikat &amp; jika ACK tidak diterima maka publisher mengirim ulang.</a:t>
            </a:r>
          </a:p>
        </p:txBody>
      </p:sp>
      <p:sp>
        <p:nvSpPr>
          <p:cNvPr name="TextBox 13" id="13"/>
          <p:cNvSpPr txBox="true"/>
          <p:nvPr/>
        </p:nvSpPr>
        <p:spPr>
          <a:xfrm rot="0">
            <a:off x="9437867" y="5950800"/>
            <a:ext cx="8032551" cy="1851846"/>
          </a:xfrm>
          <a:prstGeom prst="rect">
            <a:avLst/>
          </a:prstGeom>
        </p:spPr>
        <p:txBody>
          <a:bodyPr anchor="t" rtlCol="false" tIns="0" lIns="0" bIns="0" rIns="0">
            <a:spAutoFit/>
          </a:bodyPr>
          <a:lstStyle/>
          <a:p>
            <a:pPr algn="l" marL="453388" indent="-226694" lvl="1">
              <a:lnSpc>
                <a:spcPts val="2939"/>
              </a:lnSpc>
              <a:spcBef>
                <a:spcPct val="0"/>
              </a:spcBef>
              <a:buFont typeface="Arial"/>
              <a:buChar char="•"/>
            </a:pPr>
            <a:r>
              <a:rPr lang="en-US" sz="2099">
                <a:solidFill>
                  <a:srgbClr val="000000"/>
                </a:solidFill>
                <a:latin typeface="Garet"/>
                <a:ea typeface="Garet"/>
                <a:cs typeface="Garet"/>
                <a:sym typeface="Garet"/>
              </a:rPr>
              <a:t>QoS 2 / Exactly Once (Safest) = 4 Langkah publish,pubrec,pubtel dan pubcomp, jaminannya adalah tidak ada pesan hilang,duplikat dan jika server mati data terakhir akan tetap tersimpan kekurangannya lebih lambat.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028700" y="566880"/>
            <a:ext cx="7279037" cy="785630"/>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Testing MQTT</a:t>
            </a:r>
          </a:p>
        </p:txBody>
      </p:sp>
      <p:sp>
        <p:nvSpPr>
          <p:cNvPr name="Freeform 4" id="4"/>
          <p:cNvSpPr/>
          <p:nvPr/>
        </p:nvSpPr>
        <p:spPr>
          <a:xfrm flipH="false" flipV="false" rot="0">
            <a:off x="1239659" y="1523684"/>
            <a:ext cx="8413091" cy="5110953"/>
          </a:xfrm>
          <a:custGeom>
            <a:avLst/>
            <a:gdLst/>
            <a:ahLst/>
            <a:cxnLst/>
            <a:rect r="r" b="b" t="t" l="l"/>
            <a:pathLst>
              <a:path h="5110953" w="8413091">
                <a:moveTo>
                  <a:pt x="0" y="0"/>
                </a:moveTo>
                <a:lnTo>
                  <a:pt x="8413091" y="0"/>
                </a:lnTo>
                <a:lnTo>
                  <a:pt x="8413091" y="5110953"/>
                </a:lnTo>
                <a:lnTo>
                  <a:pt x="0" y="5110953"/>
                </a:lnTo>
                <a:lnTo>
                  <a:pt x="0" y="0"/>
                </a:lnTo>
                <a:close/>
              </a:path>
            </a:pathLst>
          </a:custGeom>
          <a:blipFill>
            <a:blip r:embed="rId3"/>
            <a:stretch>
              <a:fillRect l="0" t="0" r="0" b="0"/>
            </a:stretch>
          </a:blipFill>
        </p:spPr>
      </p:sp>
      <p:grpSp>
        <p:nvGrpSpPr>
          <p:cNvPr name="Group 5" id="5"/>
          <p:cNvGrpSpPr/>
          <p:nvPr/>
        </p:nvGrpSpPr>
        <p:grpSpPr>
          <a:xfrm rot="0">
            <a:off x="3201975" y="2474337"/>
            <a:ext cx="432254" cy="782173"/>
            <a:chOff x="0" y="0"/>
            <a:chExt cx="320040" cy="579120"/>
          </a:xfrm>
        </p:grpSpPr>
        <p:sp>
          <p:nvSpPr>
            <p:cNvPr name="Freeform 6" id="6"/>
            <p:cNvSpPr/>
            <p:nvPr/>
          </p:nvSpPr>
          <p:spPr>
            <a:xfrm flipH="false" flipV="false" rot="0">
              <a:off x="50016" y="50800"/>
              <a:ext cx="218448" cy="481801"/>
            </a:xfrm>
            <a:custGeom>
              <a:avLst/>
              <a:gdLst/>
              <a:ahLst/>
              <a:cxnLst/>
              <a:rect r="r" b="b" t="t" l="l"/>
              <a:pathLst>
                <a:path h="481801" w="218448">
                  <a:moveTo>
                    <a:pt x="137944" y="0"/>
                  </a:moveTo>
                  <a:cubicBezTo>
                    <a:pt x="212874" y="22860"/>
                    <a:pt x="215414" y="33020"/>
                    <a:pt x="217954" y="49530"/>
                  </a:cubicBezTo>
                  <a:cubicBezTo>
                    <a:pt x="223034" y="88900"/>
                    <a:pt x="187474" y="193040"/>
                    <a:pt x="181124" y="256540"/>
                  </a:cubicBezTo>
                  <a:cubicBezTo>
                    <a:pt x="177314" y="309880"/>
                    <a:pt x="191284" y="367030"/>
                    <a:pt x="181124" y="402590"/>
                  </a:cubicBezTo>
                  <a:cubicBezTo>
                    <a:pt x="173504" y="427990"/>
                    <a:pt x="164614" y="448310"/>
                    <a:pt x="144294" y="461010"/>
                  </a:cubicBezTo>
                  <a:cubicBezTo>
                    <a:pt x="115084" y="478790"/>
                    <a:pt x="27454" y="487680"/>
                    <a:pt x="9674" y="477520"/>
                  </a:cubicBezTo>
                  <a:cubicBezTo>
                    <a:pt x="2054" y="473710"/>
                    <a:pt x="-1756" y="462280"/>
                    <a:pt x="784" y="459740"/>
                  </a:cubicBezTo>
                  <a:cubicBezTo>
                    <a:pt x="2054" y="457200"/>
                    <a:pt x="19834" y="462280"/>
                    <a:pt x="19834" y="464820"/>
                  </a:cubicBezTo>
                  <a:cubicBezTo>
                    <a:pt x="19834" y="467360"/>
                    <a:pt x="5864" y="477520"/>
                    <a:pt x="3324" y="476250"/>
                  </a:cubicBezTo>
                  <a:cubicBezTo>
                    <a:pt x="784" y="474980"/>
                    <a:pt x="784" y="461010"/>
                    <a:pt x="5864" y="455930"/>
                  </a:cubicBezTo>
                  <a:cubicBezTo>
                    <a:pt x="16024" y="445770"/>
                    <a:pt x="73174" y="458470"/>
                    <a:pt x="98574" y="450850"/>
                  </a:cubicBezTo>
                  <a:cubicBezTo>
                    <a:pt x="116354" y="444500"/>
                    <a:pt x="132864" y="440690"/>
                    <a:pt x="144294" y="422910"/>
                  </a:cubicBezTo>
                  <a:cubicBezTo>
                    <a:pt x="164614" y="389890"/>
                    <a:pt x="139214" y="257810"/>
                    <a:pt x="158264" y="229870"/>
                  </a:cubicBezTo>
                  <a:cubicBezTo>
                    <a:pt x="165884" y="217170"/>
                    <a:pt x="181124" y="212090"/>
                    <a:pt x="190014" y="212090"/>
                  </a:cubicBezTo>
                  <a:cubicBezTo>
                    <a:pt x="196364" y="213360"/>
                    <a:pt x="203984" y="217170"/>
                    <a:pt x="206524" y="222250"/>
                  </a:cubicBezTo>
                  <a:cubicBezTo>
                    <a:pt x="209064" y="228600"/>
                    <a:pt x="203984" y="243840"/>
                    <a:pt x="198904" y="247650"/>
                  </a:cubicBezTo>
                  <a:cubicBezTo>
                    <a:pt x="195094" y="251460"/>
                    <a:pt x="183664" y="250190"/>
                    <a:pt x="179854" y="247650"/>
                  </a:cubicBezTo>
                  <a:cubicBezTo>
                    <a:pt x="174774" y="243840"/>
                    <a:pt x="172234" y="236220"/>
                    <a:pt x="170964" y="226060"/>
                  </a:cubicBezTo>
                  <a:cubicBezTo>
                    <a:pt x="165884" y="195580"/>
                    <a:pt x="195094" y="80010"/>
                    <a:pt x="192554" y="50800"/>
                  </a:cubicBezTo>
                  <a:cubicBezTo>
                    <a:pt x="191284" y="40640"/>
                    <a:pt x="191284" y="35560"/>
                    <a:pt x="186204" y="31750"/>
                  </a:cubicBezTo>
                  <a:cubicBezTo>
                    <a:pt x="176044" y="24130"/>
                    <a:pt x="134134" y="31750"/>
                    <a:pt x="129054" y="22860"/>
                  </a:cubicBezTo>
                  <a:cubicBezTo>
                    <a:pt x="126514" y="17780"/>
                    <a:pt x="137944" y="0"/>
                    <a:pt x="137944" y="0"/>
                  </a:cubicBezTo>
                </a:path>
              </a:pathLst>
            </a:custGeom>
            <a:solidFill>
              <a:srgbClr val="14AE5C"/>
            </a:solidFill>
            <a:ln cap="sq">
              <a:noFill/>
              <a:prstDash val="solid"/>
              <a:miter/>
            </a:ln>
          </p:spPr>
        </p:sp>
      </p:grpSp>
      <p:grpSp>
        <p:nvGrpSpPr>
          <p:cNvPr name="Group 7" id="7"/>
          <p:cNvGrpSpPr/>
          <p:nvPr/>
        </p:nvGrpSpPr>
        <p:grpSpPr>
          <a:xfrm rot="0">
            <a:off x="1028700" y="4006093"/>
            <a:ext cx="1051474" cy="619221"/>
            <a:chOff x="0" y="0"/>
            <a:chExt cx="778510" cy="458470"/>
          </a:xfrm>
        </p:grpSpPr>
        <p:sp>
          <p:nvSpPr>
            <p:cNvPr name="Freeform 8" id="8"/>
            <p:cNvSpPr/>
            <p:nvPr/>
          </p:nvSpPr>
          <p:spPr>
            <a:xfrm flipH="false" flipV="false" rot="0">
              <a:off x="47584" y="50274"/>
              <a:ext cx="680126" cy="358019"/>
            </a:xfrm>
            <a:custGeom>
              <a:avLst/>
              <a:gdLst/>
              <a:ahLst/>
              <a:cxnLst/>
              <a:rect r="r" b="b" t="t" l="l"/>
              <a:pathLst>
                <a:path h="358019" w="680126">
                  <a:moveTo>
                    <a:pt x="390566" y="24656"/>
                  </a:moveTo>
                  <a:cubicBezTo>
                    <a:pt x="56556" y="85616"/>
                    <a:pt x="37506" y="108476"/>
                    <a:pt x="29886" y="132606"/>
                  </a:cubicBezTo>
                  <a:cubicBezTo>
                    <a:pt x="22266" y="154196"/>
                    <a:pt x="27346" y="187216"/>
                    <a:pt x="38776" y="207536"/>
                  </a:cubicBezTo>
                  <a:cubicBezTo>
                    <a:pt x="47666" y="225316"/>
                    <a:pt x="65446" y="234206"/>
                    <a:pt x="85766" y="246906"/>
                  </a:cubicBezTo>
                  <a:cubicBezTo>
                    <a:pt x="113706" y="264686"/>
                    <a:pt x="150536" y="283736"/>
                    <a:pt x="194986" y="296436"/>
                  </a:cubicBezTo>
                  <a:cubicBezTo>
                    <a:pt x="259756" y="315486"/>
                    <a:pt x="362626" y="329456"/>
                    <a:pt x="438826" y="333266"/>
                  </a:cubicBezTo>
                  <a:cubicBezTo>
                    <a:pt x="506136" y="335806"/>
                    <a:pt x="592496" y="334536"/>
                    <a:pt x="626786" y="323106"/>
                  </a:cubicBezTo>
                  <a:cubicBezTo>
                    <a:pt x="640756" y="318026"/>
                    <a:pt x="650916" y="311676"/>
                    <a:pt x="654726" y="302786"/>
                  </a:cubicBezTo>
                  <a:cubicBezTo>
                    <a:pt x="659806" y="292626"/>
                    <a:pt x="655996" y="279926"/>
                    <a:pt x="650916" y="262146"/>
                  </a:cubicBezTo>
                  <a:cubicBezTo>
                    <a:pt x="642026" y="230396"/>
                    <a:pt x="610276" y="159276"/>
                    <a:pt x="586146" y="123716"/>
                  </a:cubicBezTo>
                  <a:cubicBezTo>
                    <a:pt x="568366" y="98316"/>
                    <a:pt x="553126" y="79266"/>
                    <a:pt x="526456" y="64026"/>
                  </a:cubicBezTo>
                  <a:cubicBezTo>
                    <a:pt x="493436" y="43706"/>
                    <a:pt x="435016" y="34816"/>
                    <a:pt x="395646" y="28466"/>
                  </a:cubicBezTo>
                  <a:cubicBezTo>
                    <a:pt x="361356" y="23386"/>
                    <a:pt x="310556" y="32276"/>
                    <a:pt x="302936" y="22116"/>
                  </a:cubicBezTo>
                  <a:cubicBezTo>
                    <a:pt x="299126" y="17036"/>
                    <a:pt x="306746" y="3066"/>
                    <a:pt x="308016" y="1796"/>
                  </a:cubicBezTo>
                  <a:cubicBezTo>
                    <a:pt x="309286" y="1796"/>
                    <a:pt x="315636" y="18306"/>
                    <a:pt x="313096" y="20846"/>
                  </a:cubicBezTo>
                  <a:cubicBezTo>
                    <a:pt x="311826" y="22116"/>
                    <a:pt x="297856" y="19576"/>
                    <a:pt x="296586" y="15766"/>
                  </a:cubicBezTo>
                  <a:cubicBezTo>
                    <a:pt x="295316" y="13226"/>
                    <a:pt x="299126" y="5606"/>
                    <a:pt x="304206" y="3066"/>
                  </a:cubicBezTo>
                  <a:cubicBezTo>
                    <a:pt x="314366" y="-3284"/>
                    <a:pt x="342306" y="1796"/>
                    <a:pt x="367706" y="4336"/>
                  </a:cubicBezTo>
                  <a:cubicBezTo>
                    <a:pt x="408346" y="8146"/>
                    <a:pt x="476926" y="9416"/>
                    <a:pt x="520106" y="32276"/>
                  </a:cubicBezTo>
                  <a:cubicBezTo>
                    <a:pt x="562016" y="53866"/>
                    <a:pt x="597576" y="95776"/>
                    <a:pt x="624246" y="137686"/>
                  </a:cubicBezTo>
                  <a:cubicBezTo>
                    <a:pt x="652186" y="180866"/>
                    <a:pt x="680126" y="253256"/>
                    <a:pt x="680126" y="286276"/>
                  </a:cubicBezTo>
                  <a:cubicBezTo>
                    <a:pt x="680126" y="304056"/>
                    <a:pt x="676316" y="316756"/>
                    <a:pt x="666156" y="326916"/>
                  </a:cubicBezTo>
                  <a:cubicBezTo>
                    <a:pt x="649646" y="343426"/>
                    <a:pt x="615356" y="352316"/>
                    <a:pt x="574716" y="356126"/>
                  </a:cubicBezTo>
                  <a:cubicBezTo>
                    <a:pt x="489626" y="365016"/>
                    <a:pt x="266106" y="340886"/>
                    <a:pt x="182286" y="319296"/>
                  </a:cubicBezTo>
                  <a:cubicBezTo>
                    <a:pt x="141646" y="309136"/>
                    <a:pt x="121326" y="297706"/>
                    <a:pt x="93386" y="279926"/>
                  </a:cubicBezTo>
                  <a:cubicBezTo>
                    <a:pt x="62906" y="260876"/>
                    <a:pt x="22266" y="235476"/>
                    <a:pt x="8296" y="207536"/>
                  </a:cubicBezTo>
                  <a:cubicBezTo>
                    <a:pt x="-3134" y="184676"/>
                    <a:pt x="-594" y="150386"/>
                    <a:pt x="3216" y="128796"/>
                  </a:cubicBezTo>
                  <a:cubicBezTo>
                    <a:pt x="7026" y="112286"/>
                    <a:pt x="15916" y="99586"/>
                    <a:pt x="24806" y="88156"/>
                  </a:cubicBezTo>
                  <a:cubicBezTo>
                    <a:pt x="36236" y="74186"/>
                    <a:pt x="51476" y="58946"/>
                    <a:pt x="69256" y="50056"/>
                  </a:cubicBezTo>
                  <a:cubicBezTo>
                    <a:pt x="93386" y="38626"/>
                    <a:pt x="127676" y="33546"/>
                    <a:pt x="159426" y="29736"/>
                  </a:cubicBezTo>
                  <a:cubicBezTo>
                    <a:pt x="192446" y="25926"/>
                    <a:pt x="226736" y="33546"/>
                    <a:pt x="261026" y="28466"/>
                  </a:cubicBezTo>
                  <a:cubicBezTo>
                    <a:pt x="297856" y="23386"/>
                    <a:pt x="347386" y="526"/>
                    <a:pt x="372786" y="526"/>
                  </a:cubicBezTo>
                  <a:cubicBezTo>
                    <a:pt x="384216" y="526"/>
                    <a:pt x="398186" y="526"/>
                    <a:pt x="400726" y="5606"/>
                  </a:cubicBezTo>
                  <a:cubicBezTo>
                    <a:pt x="401996" y="9416"/>
                    <a:pt x="390566" y="24656"/>
                    <a:pt x="390566" y="24656"/>
                  </a:cubicBezTo>
                </a:path>
              </a:pathLst>
            </a:custGeom>
            <a:solidFill>
              <a:srgbClr val="14AE5C"/>
            </a:solidFill>
            <a:ln cap="sq">
              <a:noFill/>
              <a:prstDash val="solid"/>
              <a:miter/>
            </a:ln>
          </p:spPr>
        </p:sp>
      </p:grpSp>
      <p:grpSp>
        <p:nvGrpSpPr>
          <p:cNvPr name="Group 9" id="9"/>
          <p:cNvGrpSpPr/>
          <p:nvPr/>
        </p:nvGrpSpPr>
        <p:grpSpPr>
          <a:xfrm rot="0">
            <a:off x="6509059" y="4007808"/>
            <a:ext cx="3140700" cy="615790"/>
            <a:chOff x="0" y="0"/>
            <a:chExt cx="2325370" cy="455930"/>
          </a:xfrm>
        </p:grpSpPr>
        <p:sp>
          <p:nvSpPr>
            <p:cNvPr name="Freeform 10" id="10"/>
            <p:cNvSpPr/>
            <p:nvPr/>
          </p:nvSpPr>
          <p:spPr>
            <a:xfrm flipH="false" flipV="false" rot="0">
              <a:off x="48833" y="41182"/>
              <a:ext cx="2227176" cy="373759"/>
            </a:xfrm>
            <a:custGeom>
              <a:avLst/>
              <a:gdLst/>
              <a:ahLst/>
              <a:cxnLst/>
              <a:rect r="r" b="b" t="t" l="l"/>
              <a:pathLst>
                <a:path h="373759" w="2227176">
                  <a:moveTo>
                    <a:pt x="196277" y="57878"/>
                  </a:moveTo>
                  <a:cubicBezTo>
                    <a:pt x="42607" y="89628"/>
                    <a:pt x="34987" y="98518"/>
                    <a:pt x="31177" y="113758"/>
                  </a:cubicBezTo>
                  <a:cubicBezTo>
                    <a:pt x="22287" y="141698"/>
                    <a:pt x="22287" y="210278"/>
                    <a:pt x="42607" y="239488"/>
                  </a:cubicBezTo>
                  <a:cubicBezTo>
                    <a:pt x="61657" y="267428"/>
                    <a:pt x="99757" y="281398"/>
                    <a:pt x="140397" y="291558"/>
                  </a:cubicBezTo>
                  <a:cubicBezTo>
                    <a:pt x="202627" y="308068"/>
                    <a:pt x="323277" y="286478"/>
                    <a:pt x="385507" y="295368"/>
                  </a:cubicBezTo>
                  <a:cubicBezTo>
                    <a:pt x="423607" y="300448"/>
                    <a:pt x="443927" y="313148"/>
                    <a:pt x="479487" y="319498"/>
                  </a:cubicBezTo>
                  <a:cubicBezTo>
                    <a:pt x="521397" y="325848"/>
                    <a:pt x="549337" y="328388"/>
                    <a:pt x="620457" y="330928"/>
                  </a:cubicBezTo>
                  <a:cubicBezTo>
                    <a:pt x="831277" y="341088"/>
                    <a:pt x="1651697" y="369028"/>
                    <a:pt x="1880297" y="342358"/>
                  </a:cubicBezTo>
                  <a:cubicBezTo>
                    <a:pt x="1966657" y="332198"/>
                    <a:pt x="2004757" y="316958"/>
                    <a:pt x="2058097" y="299178"/>
                  </a:cubicBezTo>
                  <a:cubicBezTo>
                    <a:pt x="2103817" y="283938"/>
                    <a:pt x="2159697" y="275048"/>
                    <a:pt x="2183827" y="245838"/>
                  </a:cubicBezTo>
                  <a:cubicBezTo>
                    <a:pt x="2205417" y="217898"/>
                    <a:pt x="2214307" y="160748"/>
                    <a:pt x="2202877" y="131538"/>
                  </a:cubicBezTo>
                  <a:cubicBezTo>
                    <a:pt x="2192717" y="106138"/>
                    <a:pt x="2162237" y="89628"/>
                    <a:pt x="2126677" y="76928"/>
                  </a:cubicBezTo>
                  <a:cubicBezTo>
                    <a:pt x="2069527" y="56608"/>
                    <a:pt x="1956497" y="73118"/>
                    <a:pt x="1870137" y="65498"/>
                  </a:cubicBezTo>
                  <a:cubicBezTo>
                    <a:pt x="1781237" y="57878"/>
                    <a:pt x="1721547" y="38828"/>
                    <a:pt x="1602167" y="31208"/>
                  </a:cubicBezTo>
                  <a:cubicBezTo>
                    <a:pt x="1357057" y="14698"/>
                    <a:pt x="744917" y="18508"/>
                    <a:pt x="488377" y="29938"/>
                  </a:cubicBezTo>
                  <a:cubicBezTo>
                    <a:pt x="352487" y="36288"/>
                    <a:pt x="205167" y="73118"/>
                    <a:pt x="175957" y="56608"/>
                  </a:cubicBezTo>
                  <a:cubicBezTo>
                    <a:pt x="169607" y="52798"/>
                    <a:pt x="167067" y="42638"/>
                    <a:pt x="168337" y="40098"/>
                  </a:cubicBezTo>
                  <a:cubicBezTo>
                    <a:pt x="169607" y="37558"/>
                    <a:pt x="183577" y="38828"/>
                    <a:pt x="184847" y="41368"/>
                  </a:cubicBezTo>
                  <a:cubicBezTo>
                    <a:pt x="187387" y="43908"/>
                    <a:pt x="181037" y="56608"/>
                    <a:pt x="177227" y="56608"/>
                  </a:cubicBezTo>
                  <a:cubicBezTo>
                    <a:pt x="174687" y="57878"/>
                    <a:pt x="165797" y="50258"/>
                    <a:pt x="165797" y="47718"/>
                  </a:cubicBezTo>
                  <a:cubicBezTo>
                    <a:pt x="165797" y="43908"/>
                    <a:pt x="169607" y="40098"/>
                    <a:pt x="175957" y="36288"/>
                  </a:cubicBezTo>
                  <a:cubicBezTo>
                    <a:pt x="207707" y="21048"/>
                    <a:pt x="352487" y="15968"/>
                    <a:pt x="488377" y="9618"/>
                  </a:cubicBezTo>
                  <a:cubicBezTo>
                    <a:pt x="742377" y="-542"/>
                    <a:pt x="1335467" y="-5622"/>
                    <a:pt x="1583117" y="9618"/>
                  </a:cubicBezTo>
                  <a:cubicBezTo>
                    <a:pt x="1710117" y="17238"/>
                    <a:pt x="1776157" y="38828"/>
                    <a:pt x="1870137" y="45178"/>
                  </a:cubicBezTo>
                  <a:cubicBezTo>
                    <a:pt x="1960307" y="52798"/>
                    <a:pt x="2072067" y="33748"/>
                    <a:pt x="2134297" y="54068"/>
                  </a:cubicBezTo>
                  <a:cubicBezTo>
                    <a:pt x="2172397" y="66768"/>
                    <a:pt x="2205417" y="89628"/>
                    <a:pt x="2219387" y="113758"/>
                  </a:cubicBezTo>
                  <a:cubicBezTo>
                    <a:pt x="2230817" y="135348"/>
                    <a:pt x="2227007" y="162018"/>
                    <a:pt x="2224467" y="186148"/>
                  </a:cubicBezTo>
                  <a:cubicBezTo>
                    <a:pt x="2223197" y="210278"/>
                    <a:pt x="2219387" y="242028"/>
                    <a:pt x="2206687" y="258538"/>
                  </a:cubicBezTo>
                  <a:cubicBezTo>
                    <a:pt x="2196527" y="271238"/>
                    <a:pt x="2180017" y="277588"/>
                    <a:pt x="2164777" y="283938"/>
                  </a:cubicBezTo>
                  <a:cubicBezTo>
                    <a:pt x="2146997" y="290288"/>
                    <a:pt x="2117787" y="285208"/>
                    <a:pt x="2105087" y="292828"/>
                  </a:cubicBezTo>
                  <a:cubicBezTo>
                    <a:pt x="2096197" y="296638"/>
                    <a:pt x="2097467" y="305528"/>
                    <a:pt x="2087307" y="311878"/>
                  </a:cubicBezTo>
                  <a:cubicBezTo>
                    <a:pt x="2056827" y="329658"/>
                    <a:pt x="1974277" y="349978"/>
                    <a:pt x="1880297" y="361408"/>
                  </a:cubicBezTo>
                  <a:cubicBezTo>
                    <a:pt x="1684717" y="385538"/>
                    <a:pt x="1224977" y="367758"/>
                    <a:pt x="968437" y="362678"/>
                  </a:cubicBezTo>
                  <a:cubicBezTo>
                    <a:pt x="780477" y="358868"/>
                    <a:pt x="579817" y="358868"/>
                    <a:pt x="480757" y="343628"/>
                  </a:cubicBezTo>
                  <a:cubicBezTo>
                    <a:pt x="436307" y="337278"/>
                    <a:pt x="424877" y="324578"/>
                    <a:pt x="384237" y="319498"/>
                  </a:cubicBezTo>
                  <a:cubicBezTo>
                    <a:pt x="322007" y="311878"/>
                    <a:pt x="202627" y="334738"/>
                    <a:pt x="139127" y="318228"/>
                  </a:cubicBezTo>
                  <a:cubicBezTo>
                    <a:pt x="92137" y="305528"/>
                    <a:pt x="50227" y="285208"/>
                    <a:pt x="27367" y="258538"/>
                  </a:cubicBezTo>
                  <a:cubicBezTo>
                    <a:pt x="9587" y="235678"/>
                    <a:pt x="5777" y="200118"/>
                    <a:pt x="1967" y="174718"/>
                  </a:cubicBezTo>
                  <a:cubicBezTo>
                    <a:pt x="-573" y="154398"/>
                    <a:pt x="-1843" y="134078"/>
                    <a:pt x="5777" y="116298"/>
                  </a:cubicBezTo>
                  <a:cubicBezTo>
                    <a:pt x="14667" y="95978"/>
                    <a:pt x="31177" y="74388"/>
                    <a:pt x="54037" y="60418"/>
                  </a:cubicBezTo>
                  <a:cubicBezTo>
                    <a:pt x="85787" y="42638"/>
                    <a:pt x="170877" y="29938"/>
                    <a:pt x="192467" y="35018"/>
                  </a:cubicBezTo>
                  <a:cubicBezTo>
                    <a:pt x="200087" y="36288"/>
                    <a:pt x="205167" y="40098"/>
                    <a:pt x="205167" y="43908"/>
                  </a:cubicBezTo>
                  <a:cubicBezTo>
                    <a:pt x="206437" y="47718"/>
                    <a:pt x="196277" y="57878"/>
                    <a:pt x="196277" y="57878"/>
                  </a:cubicBezTo>
                </a:path>
              </a:pathLst>
            </a:custGeom>
            <a:solidFill>
              <a:srgbClr val="14AE5C"/>
            </a:solidFill>
            <a:ln cap="sq">
              <a:noFill/>
              <a:prstDash val="solid"/>
              <a:miter/>
            </a:ln>
          </p:spPr>
        </p:sp>
      </p:grpSp>
      <p:grpSp>
        <p:nvGrpSpPr>
          <p:cNvPr name="Group 11" id="11"/>
          <p:cNvGrpSpPr/>
          <p:nvPr/>
        </p:nvGrpSpPr>
        <p:grpSpPr>
          <a:xfrm rot="0">
            <a:off x="5004748" y="5308383"/>
            <a:ext cx="699839" cy="1260740"/>
            <a:chOff x="0" y="0"/>
            <a:chExt cx="518160" cy="933450"/>
          </a:xfrm>
        </p:grpSpPr>
        <p:sp>
          <p:nvSpPr>
            <p:cNvPr name="Freeform 12" id="12"/>
            <p:cNvSpPr/>
            <p:nvPr/>
          </p:nvSpPr>
          <p:spPr>
            <a:xfrm flipH="false" flipV="false" rot="0">
              <a:off x="49612" y="50800"/>
              <a:ext cx="424314" cy="839583"/>
            </a:xfrm>
            <a:custGeom>
              <a:avLst/>
              <a:gdLst/>
              <a:ahLst/>
              <a:cxnLst/>
              <a:rect r="r" b="b" t="t" l="l"/>
              <a:pathLst>
                <a:path h="839583" w="424314">
                  <a:moveTo>
                    <a:pt x="130728" y="0"/>
                  </a:moveTo>
                  <a:cubicBezTo>
                    <a:pt x="239948" y="7620"/>
                    <a:pt x="261538" y="15240"/>
                    <a:pt x="274238" y="38100"/>
                  </a:cubicBezTo>
                  <a:cubicBezTo>
                    <a:pt x="295828" y="78740"/>
                    <a:pt x="261538" y="199390"/>
                    <a:pt x="276778" y="257810"/>
                  </a:cubicBezTo>
                  <a:cubicBezTo>
                    <a:pt x="289478" y="302260"/>
                    <a:pt x="322498" y="344170"/>
                    <a:pt x="337738" y="364490"/>
                  </a:cubicBezTo>
                  <a:cubicBezTo>
                    <a:pt x="345358" y="373380"/>
                    <a:pt x="349168" y="379730"/>
                    <a:pt x="358058" y="382270"/>
                  </a:cubicBezTo>
                  <a:cubicBezTo>
                    <a:pt x="366948" y="384810"/>
                    <a:pt x="385998" y="386080"/>
                    <a:pt x="393618" y="377190"/>
                  </a:cubicBezTo>
                  <a:cubicBezTo>
                    <a:pt x="406318" y="363220"/>
                    <a:pt x="407588" y="294640"/>
                    <a:pt x="397428" y="279400"/>
                  </a:cubicBezTo>
                  <a:cubicBezTo>
                    <a:pt x="391078" y="271780"/>
                    <a:pt x="374568" y="269240"/>
                    <a:pt x="368218" y="271780"/>
                  </a:cubicBezTo>
                  <a:cubicBezTo>
                    <a:pt x="363138" y="274320"/>
                    <a:pt x="361868" y="280670"/>
                    <a:pt x="360598" y="290830"/>
                  </a:cubicBezTo>
                  <a:cubicBezTo>
                    <a:pt x="350438" y="339090"/>
                    <a:pt x="391078" y="633730"/>
                    <a:pt x="368218" y="698500"/>
                  </a:cubicBezTo>
                  <a:cubicBezTo>
                    <a:pt x="359328" y="722630"/>
                    <a:pt x="347898" y="726440"/>
                    <a:pt x="331388" y="741680"/>
                  </a:cubicBezTo>
                  <a:cubicBezTo>
                    <a:pt x="304718" y="765810"/>
                    <a:pt x="262808" y="803910"/>
                    <a:pt x="215818" y="819150"/>
                  </a:cubicBezTo>
                  <a:cubicBezTo>
                    <a:pt x="157398" y="838200"/>
                    <a:pt x="24048" y="847090"/>
                    <a:pt x="4998" y="831850"/>
                  </a:cubicBezTo>
                  <a:cubicBezTo>
                    <a:pt x="-1352" y="826770"/>
                    <a:pt x="-82" y="811530"/>
                    <a:pt x="2458" y="810260"/>
                  </a:cubicBezTo>
                  <a:cubicBezTo>
                    <a:pt x="4998" y="808990"/>
                    <a:pt x="15158" y="815340"/>
                    <a:pt x="15158" y="819150"/>
                  </a:cubicBezTo>
                  <a:cubicBezTo>
                    <a:pt x="16428" y="822960"/>
                    <a:pt x="8808" y="831850"/>
                    <a:pt x="6268" y="830580"/>
                  </a:cubicBezTo>
                  <a:cubicBezTo>
                    <a:pt x="3728" y="830580"/>
                    <a:pt x="-2622" y="816610"/>
                    <a:pt x="1188" y="810260"/>
                  </a:cubicBezTo>
                  <a:cubicBezTo>
                    <a:pt x="15158" y="792480"/>
                    <a:pt x="154858" y="816610"/>
                    <a:pt x="214548" y="793750"/>
                  </a:cubicBezTo>
                  <a:cubicBezTo>
                    <a:pt x="266618" y="773430"/>
                    <a:pt x="317418" y="749300"/>
                    <a:pt x="342818" y="695960"/>
                  </a:cubicBezTo>
                  <a:cubicBezTo>
                    <a:pt x="384728" y="608330"/>
                    <a:pt x="309798" y="326390"/>
                    <a:pt x="337738" y="270510"/>
                  </a:cubicBezTo>
                  <a:cubicBezTo>
                    <a:pt x="346628" y="251460"/>
                    <a:pt x="360598" y="246380"/>
                    <a:pt x="374568" y="242570"/>
                  </a:cubicBezTo>
                  <a:cubicBezTo>
                    <a:pt x="385998" y="240030"/>
                    <a:pt x="403778" y="241300"/>
                    <a:pt x="412668" y="251460"/>
                  </a:cubicBezTo>
                  <a:cubicBezTo>
                    <a:pt x="427908" y="269240"/>
                    <a:pt x="426638" y="350520"/>
                    <a:pt x="417748" y="377190"/>
                  </a:cubicBezTo>
                  <a:cubicBezTo>
                    <a:pt x="412668" y="391160"/>
                    <a:pt x="403778" y="400050"/>
                    <a:pt x="393618" y="405130"/>
                  </a:cubicBezTo>
                  <a:cubicBezTo>
                    <a:pt x="384728" y="408940"/>
                    <a:pt x="374568" y="411480"/>
                    <a:pt x="363138" y="408940"/>
                  </a:cubicBezTo>
                  <a:cubicBezTo>
                    <a:pt x="347898" y="405130"/>
                    <a:pt x="326308" y="386080"/>
                    <a:pt x="309798" y="365760"/>
                  </a:cubicBezTo>
                  <a:cubicBezTo>
                    <a:pt x="288208" y="340360"/>
                    <a:pt x="264078" y="302260"/>
                    <a:pt x="253918" y="260350"/>
                  </a:cubicBezTo>
                  <a:cubicBezTo>
                    <a:pt x="239948" y="204470"/>
                    <a:pt x="269158" y="90170"/>
                    <a:pt x="252648" y="53340"/>
                  </a:cubicBezTo>
                  <a:cubicBezTo>
                    <a:pt x="245028" y="36830"/>
                    <a:pt x="233598" y="30480"/>
                    <a:pt x="218358" y="24130"/>
                  </a:cubicBezTo>
                  <a:cubicBezTo>
                    <a:pt x="195498" y="15240"/>
                    <a:pt x="133268" y="33020"/>
                    <a:pt x="124378" y="22860"/>
                  </a:cubicBezTo>
                  <a:cubicBezTo>
                    <a:pt x="120568" y="17780"/>
                    <a:pt x="130728" y="0"/>
                    <a:pt x="130728" y="0"/>
                  </a:cubicBezTo>
                </a:path>
              </a:pathLst>
            </a:custGeom>
            <a:solidFill>
              <a:srgbClr val="14AE5C"/>
            </a:solidFill>
            <a:ln cap="sq">
              <a:noFill/>
              <a:prstDash val="solid"/>
              <a:miter/>
            </a:ln>
          </p:spPr>
        </p:sp>
      </p:grpSp>
      <p:sp>
        <p:nvSpPr>
          <p:cNvPr name="TextBox 13" id="13"/>
          <p:cNvSpPr txBox="true"/>
          <p:nvPr/>
        </p:nvSpPr>
        <p:spPr>
          <a:xfrm rot="0">
            <a:off x="10141558" y="1145799"/>
            <a:ext cx="7287954" cy="2223358"/>
          </a:xfrm>
          <a:prstGeom prst="rect">
            <a:avLst/>
          </a:prstGeom>
        </p:spPr>
        <p:txBody>
          <a:bodyPr anchor="t" rtlCol="false" tIns="0" lIns="0" bIns="0" rIns="0">
            <a:spAutoFit/>
          </a:bodyPr>
          <a:lstStyle/>
          <a:p>
            <a:pPr algn="l">
              <a:lnSpc>
                <a:spcPts val="2939"/>
              </a:lnSpc>
            </a:pPr>
            <a:r>
              <a:rPr lang="en-US" sz="2099" b="true">
                <a:solidFill>
                  <a:srgbClr val="000000"/>
                </a:solidFill>
                <a:latin typeface="Garet Bold"/>
                <a:ea typeface="Garet Bold"/>
                <a:cs typeface="Garet Bold"/>
                <a:sym typeface="Garet Bold"/>
              </a:rPr>
              <a:t>Step 3 </a:t>
            </a:r>
            <a:r>
              <a:rPr lang="en-US" sz="2099">
                <a:solidFill>
                  <a:srgbClr val="000000"/>
                </a:solidFill>
                <a:latin typeface="Garet"/>
                <a:ea typeface="Garet"/>
                <a:cs typeface="Garet"/>
                <a:sym typeface="Garet"/>
              </a:rPr>
              <a:t>: Kirim Message</a:t>
            </a:r>
          </a:p>
          <a:p>
            <a:pPr algn="l">
              <a:lnSpc>
                <a:spcPts val="2939"/>
              </a:lnSpc>
              <a:spcBef>
                <a:spcPct val="0"/>
              </a:spcBef>
            </a:pPr>
            <a:r>
              <a:rPr lang="en-US" sz="2099">
                <a:solidFill>
                  <a:srgbClr val="000000"/>
                </a:solidFill>
                <a:latin typeface="Garet"/>
                <a:ea typeface="Garet"/>
                <a:cs typeface="Garet"/>
                <a:sym typeface="Garet"/>
              </a:rPr>
              <a:t>Tekan tab message lalu isi message (disini saya pakai JSON), setelah itu tekan retain agar ceklist muncul (bertujuan untuk menyimpan data terkahir) lalu pilih QoS 0 &amp; topic project/events setelah itu send. Jika sudah informasi terkirim akan terlihat.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683510"/>
            <a:ext cx="8581619" cy="785630"/>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Cek MQTT di WireShark</a:t>
            </a:r>
          </a:p>
        </p:txBody>
      </p:sp>
      <p:sp>
        <p:nvSpPr>
          <p:cNvPr name="Freeform 6" id="6"/>
          <p:cNvSpPr/>
          <p:nvPr/>
        </p:nvSpPr>
        <p:spPr>
          <a:xfrm flipH="false" flipV="false" rot="0">
            <a:off x="1028700" y="1638678"/>
            <a:ext cx="16230600" cy="1481042"/>
          </a:xfrm>
          <a:custGeom>
            <a:avLst/>
            <a:gdLst/>
            <a:ahLst/>
            <a:cxnLst/>
            <a:rect r="r" b="b" t="t" l="l"/>
            <a:pathLst>
              <a:path h="1481042" w="16230600">
                <a:moveTo>
                  <a:pt x="0" y="0"/>
                </a:moveTo>
                <a:lnTo>
                  <a:pt x="16230600" y="0"/>
                </a:lnTo>
                <a:lnTo>
                  <a:pt x="16230600" y="1481042"/>
                </a:lnTo>
                <a:lnTo>
                  <a:pt x="0" y="1481042"/>
                </a:lnTo>
                <a:lnTo>
                  <a:pt x="0" y="0"/>
                </a:lnTo>
                <a:close/>
              </a:path>
            </a:pathLst>
          </a:custGeom>
          <a:blipFill>
            <a:blip r:embed="rId3"/>
            <a:stretch>
              <a:fillRect l="0" t="0" r="0" b="0"/>
            </a:stretch>
          </a:blipFill>
        </p:spPr>
      </p:sp>
      <p:sp>
        <p:nvSpPr>
          <p:cNvPr name="TextBox 7" id="7"/>
          <p:cNvSpPr txBox="true"/>
          <p:nvPr/>
        </p:nvSpPr>
        <p:spPr>
          <a:xfrm rot="0">
            <a:off x="3197455" y="3494331"/>
            <a:ext cx="9826644" cy="4082311"/>
          </a:xfrm>
          <a:prstGeom prst="rect">
            <a:avLst/>
          </a:prstGeom>
        </p:spPr>
        <p:txBody>
          <a:bodyPr anchor="t" rtlCol="false" tIns="0" lIns="0" bIns="0" rIns="0">
            <a:spAutoFit/>
          </a:bodyPr>
          <a:lstStyle/>
          <a:p>
            <a:pPr algn="just">
              <a:lnSpc>
                <a:spcPts val="2729"/>
              </a:lnSpc>
            </a:pPr>
            <a:r>
              <a:rPr lang="en-US" sz="1949">
                <a:solidFill>
                  <a:srgbClr val="000000"/>
                </a:solidFill>
                <a:latin typeface="Canva Sans"/>
                <a:ea typeface="Canva Sans"/>
                <a:cs typeface="Canva Sans"/>
                <a:sym typeface="Canva Sans"/>
              </a:rPr>
              <a:t>      Pada gambar diatas kita bisa membaca alur proses MQTTnya, penjelasannya antara lain :</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 28 Info Connect Comand = Proses ini menginformasikan bahwa Client MQTT mencoba terhubung ke broker MQTT.</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 30 Info Connect Ack = Proses ini menginformasikan bahwa broker menerima dan menyetujui koneksi dari client.</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No.32 Info Subscribe request (id=56305) [project/events] = Pada proses ini clinet meminta subscribe ke topic project/events.</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No.34 Info Subscribe Ack (id=56305) = Broker menyetujui permintaan subscrie tersebut.</a:t>
            </a:r>
          </a:p>
          <a:p>
            <a:pPr algn="l" marL="420955" indent="-210477" lvl="1">
              <a:lnSpc>
                <a:spcPts val="2729"/>
              </a:lnSpc>
              <a:buFont typeface="Arial"/>
              <a:buChar char="•"/>
            </a:pPr>
            <a:r>
              <a:rPr lang="en-US" sz="1949">
                <a:solidFill>
                  <a:srgbClr val="000000"/>
                </a:solidFill>
                <a:latin typeface="Canva Sans"/>
                <a:ea typeface="Canva Sans"/>
                <a:cs typeface="Canva Sans"/>
                <a:sym typeface="Canva Sans"/>
              </a:rPr>
              <a:t>No.37 Info Publish message [project/events] = Pada proses ini pesan dipublikasikan pada topic project/events.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4" id="4"/>
          <p:cNvSpPr/>
          <p:nvPr/>
        </p:nvSpPr>
        <p:spPr>
          <a:xfrm flipH="false" flipV="false" rot="0">
            <a:off x="1028700" y="3135695"/>
            <a:ext cx="16364948" cy="1481042"/>
          </a:xfrm>
          <a:custGeom>
            <a:avLst/>
            <a:gdLst/>
            <a:ahLst/>
            <a:cxnLst/>
            <a:rect r="r" b="b" t="t" l="l"/>
            <a:pathLst>
              <a:path h="1481042" w="16364948">
                <a:moveTo>
                  <a:pt x="0" y="0"/>
                </a:moveTo>
                <a:lnTo>
                  <a:pt x="16364948" y="0"/>
                </a:lnTo>
                <a:lnTo>
                  <a:pt x="16364948" y="1481042"/>
                </a:lnTo>
                <a:lnTo>
                  <a:pt x="0" y="1481042"/>
                </a:lnTo>
                <a:lnTo>
                  <a:pt x="0" y="0"/>
                </a:lnTo>
                <a:close/>
              </a:path>
            </a:pathLst>
          </a:custGeom>
          <a:blipFill>
            <a:blip r:embed="rId3"/>
            <a:stretch>
              <a:fillRect l="0" t="-413" r="0" b="-413"/>
            </a:stretch>
          </a:blipFill>
        </p:spPr>
      </p:sp>
      <p:sp>
        <p:nvSpPr>
          <p:cNvPr name="Freeform 5" id="5"/>
          <p:cNvSpPr/>
          <p:nvPr/>
        </p:nvSpPr>
        <p:spPr>
          <a:xfrm flipH="false" flipV="false" rot="0">
            <a:off x="1028700" y="7691139"/>
            <a:ext cx="13119488" cy="1328348"/>
          </a:xfrm>
          <a:custGeom>
            <a:avLst/>
            <a:gdLst/>
            <a:ahLst/>
            <a:cxnLst/>
            <a:rect r="r" b="b" t="t" l="l"/>
            <a:pathLst>
              <a:path h="1328348" w="13119488">
                <a:moveTo>
                  <a:pt x="0" y="0"/>
                </a:moveTo>
                <a:lnTo>
                  <a:pt x="13119488" y="0"/>
                </a:lnTo>
                <a:lnTo>
                  <a:pt x="13119488" y="1328348"/>
                </a:lnTo>
                <a:lnTo>
                  <a:pt x="0" y="1328348"/>
                </a:lnTo>
                <a:lnTo>
                  <a:pt x="0" y="0"/>
                </a:lnTo>
                <a:close/>
              </a:path>
            </a:pathLst>
          </a:custGeom>
          <a:blipFill>
            <a:blip r:embed="rId4"/>
            <a:stretch>
              <a:fillRect l="0" t="0" r="0" b="0"/>
            </a:stretch>
          </a:blipFill>
        </p:spPr>
      </p:sp>
      <p:sp>
        <p:nvSpPr>
          <p:cNvPr name="Freeform 6" id="6"/>
          <p:cNvSpPr/>
          <p:nvPr/>
        </p:nvSpPr>
        <p:spPr>
          <a:xfrm flipH="false" flipV="false" rot="0">
            <a:off x="1028700" y="5311309"/>
            <a:ext cx="16364948" cy="1268283"/>
          </a:xfrm>
          <a:custGeom>
            <a:avLst/>
            <a:gdLst/>
            <a:ahLst/>
            <a:cxnLst/>
            <a:rect r="r" b="b" t="t" l="l"/>
            <a:pathLst>
              <a:path h="1268283" w="16364948">
                <a:moveTo>
                  <a:pt x="0" y="0"/>
                </a:moveTo>
                <a:lnTo>
                  <a:pt x="16364948" y="0"/>
                </a:lnTo>
                <a:lnTo>
                  <a:pt x="16364948" y="1268283"/>
                </a:lnTo>
                <a:lnTo>
                  <a:pt x="0" y="1268283"/>
                </a:lnTo>
                <a:lnTo>
                  <a:pt x="0" y="0"/>
                </a:lnTo>
                <a:close/>
              </a:path>
            </a:pathLst>
          </a:custGeom>
          <a:blipFill>
            <a:blip r:embed="rId5"/>
            <a:stretch>
              <a:fillRect l="0" t="0" r="0" b="0"/>
            </a:stretch>
          </a:blipFill>
        </p:spPr>
      </p:sp>
      <p:sp>
        <p:nvSpPr>
          <p:cNvPr name="TextBox 7" id="7"/>
          <p:cNvSpPr txBox="true"/>
          <p:nvPr/>
        </p:nvSpPr>
        <p:spPr>
          <a:xfrm rot="0">
            <a:off x="1028700" y="475902"/>
            <a:ext cx="9602458" cy="1518981"/>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Perbedaan QoS 0 - QoS 2 pada wireshark</a:t>
            </a:r>
          </a:p>
        </p:txBody>
      </p:sp>
      <p:sp>
        <p:nvSpPr>
          <p:cNvPr name="TextBox 8" id="8"/>
          <p:cNvSpPr txBox="true"/>
          <p:nvPr/>
        </p:nvSpPr>
        <p:spPr>
          <a:xfrm rot="0">
            <a:off x="1165020" y="2391371"/>
            <a:ext cx="9719843" cy="530522"/>
          </a:xfrm>
          <a:prstGeom prst="rect">
            <a:avLst/>
          </a:prstGeom>
        </p:spPr>
        <p:txBody>
          <a:bodyPr anchor="t" rtlCol="false" tIns="0" lIns="0" bIns="0" rIns="0">
            <a:spAutoFit/>
          </a:bodyPr>
          <a:lstStyle/>
          <a:p>
            <a:pPr algn="l">
              <a:lnSpc>
                <a:spcPts val="4462"/>
              </a:lnSpc>
              <a:spcBef>
                <a:spcPct val="0"/>
              </a:spcBef>
            </a:pPr>
            <a:r>
              <a:rPr lang="en-US" b="true" sz="3187">
                <a:solidFill>
                  <a:srgbClr val="000000"/>
                </a:solidFill>
                <a:latin typeface="Garet Bold"/>
                <a:ea typeface="Garet Bold"/>
                <a:cs typeface="Garet Bold"/>
                <a:sym typeface="Garet Bold"/>
              </a:rPr>
              <a:t>QoS 0 (At Most Once (Maksimal Satu Kali)</a:t>
            </a:r>
          </a:p>
        </p:txBody>
      </p:sp>
      <p:sp>
        <p:nvSpPr>
          <p:cNvPr name="TextBox 9" id="9"/>
          <p:cNvSpPr txBox="true"/>
          <p:nvPr/>
        </p:nvSpPr>
        <p:spPr>
          <a:xfrm rot="0">
            <a:off x="1028700" y="6846292"/>
            <a:ext cx="8414751" cy="530522"/>
          </a:xfrm>
          <a:prstGeom prst="rect">
            <a:avLst/>
          </a:prstGeom>
        </p:spPr>
        <p:txBody>
          <a:bodyPr anchor="t" rtlCol="false" tIns="0" lIns="0" bIns="0" rIns="0">
            <a:spAutoFit/>
          </a:bodyPr>
          <a:lstStyle/>
          <a:p>
            <a:pPr algn="l">
              <a:lnSpc>
                <a:spcPts val="4462"/>
              </a:lnSpc>
              <a:spcBef>
                <a:spcPct val="0"/>
              </a:spcBef>
            </a:pPr>
            <a:r>
              <a:rPr lang="en-US" b="true" sz="3187">
                <a:solidFill>
                  <a:srgbClr val="000000"/>
                </a:solidFill>
                <a:latin typeface="Garet Bold"/>
                <a:ea typeface="Garet Bold"/>
                <a:cs typeface="Garet Bold"/>
                <a:sym typeface="Garet Bold"/>
              </a:rPr>
              <a:t>QoS 2 (Exactly Once (Tepat Satu Kali)</a:t>
            </a:r>
          </a:p>
        </p:txBody>
      </p:sp>
      <p:sp>
        <p:nvSpPr>
          <p:cNvPr name="TextBox 10" id="10"/>
          <p:cNvSpPr txBox="true"/>
          <p:nvPr/>
        </p:nvSpPr>
        <p:spPr>
          <a:xfrm rot="0">
            <a:off x="1028700" y="4778662"/>
            <a:ext cx="11293629" cy="530522"/>
          </a:xfrm>
          <a:prstGeom prst="rect">
            <a:avLst/>
          </a:prstGeom>
        </p:spPr>
        <p:txBody>
          <a:bodyPr anchor="t" rtlCol="false" tIns="0" lIns="0" bIns="0" rIns="0">
            <a:spAutoFit/>
          </a:bodyPr>
          <a:lstStyle/>
          <a:p>
            <a:pPr algn="l">
              <a:lnSpc>
                <a:spcPts val="4462"/>
              </a:lnSpc>
              <a:spcBef>
                <a:spcPct val="0"/>
              </a:spcBef>
            </a:pPr>
            <a:r>
              <a:rPr lang="en-US" b="true" sz="3187">
                <a:solidFill>
                  <a:srgbClr val="000000"/>
                </a:solidFill>
                <a:latin typeface="Garet Bold"/>
                <a:ea typeface="Garet Bold"/>
                <a:cs typeface="Garet Bold"/>
                <a:sym typeface="Garet Bold"/>
              </a:rPr>
              <a:t>QoS 1 ( At Least Once (Minimal Satu Kali)</a:t>
            </a:r>
          </a:p>
        </p:txBody>
      </p:sp>
      <p:grpSp>
        <p:nvGrpSpPr>
          <p:cNvPr name="Group 11" id="11"/>
          <p:cNvGrpSpPr/>
          <p:nvPr/>
        </p:nvGrpSpPr>
        <p:grpSpPr>
          <a:xfrm rot="0">
            <a:off x="11582400" y="4163378"/>
            <a:ext cx="4271962" cy="361950"/>
            <a:chOff x="0" y="0"/>
            <a:chExt cx="5695950" cy="482600"/>
          </a:xfrm>
        </p:grpSpPr>
        <p:sp>
          <p:nvSpPr>
            <p:cNvPr name="Freeform 12" id="12"/>
            <p:cNvSpPr/>
            <p:nvPr/>
          </p:nvSpPr>
          <p:spPr>
            <a:xfrm flipH="false" flipV="false" rot="0">
              <a:off x="50800" y="46185"/>
              <a:ext cx="5594831" cy="384585"/>
            </a:xfrm>
            <a:custGeom>
              <a:avLst/>
              <a:gdLst/>
              <a:ahLst/>
              <a:cxnLst/>
              <a:rect r="r" b="b" t="t" l="l"/>
              <a:pathLst>
                <a:path h="384585" w="5594831">
                  <a:moveTo>
                    <a:pt x="10160" y="60495"/>
                  </a:moveTo>
                  <a:cubicBezTo>
                    <a:pt x="293370" y="54145"/>
                    <a:pt x="304800" y="37635"/>
                    <a:pt x="336550" y="30015"/>
                  </a:cubicBezTo>
                  <a:cubicBezTo>
                    <a:pt x="384810" y="17315"/>
                    <a:pt x="448310" y="10965"/>
                    <a:pt x="523240" y="5885"/>
                  </a:cubicBezTo>
                  <a:cubicBezTo>
                    <a:pt x="638810" y="-1735"/>
                    <a:pt x="854710" y="-1735"/>
                    <a:pt x="958850" y="4615"/>
                  </a:cubicBezTo>
                  <a:cubicBezTo>
                    <a:pt x="1017270" y="8425"/>
                    <a:pt x="1036320" y="18585"/>
                    <a:pt x="1096010" y="22395"/>
                  </a:cubicBezTo>
                  <a:cubicBezTo>
                    <a:pt x="1202690" y="28745"/>
                    <a:pt x="1504950" y="7155"/>
                    <a:pt x="1551940" y="23665"/>
                  </a:cubicBezTo>
                  <a:cubicBezTo>
                    <a:pt x="1562100" y="27475"/>
                    <a:pt x="1559560" y="32555"/>
                    <a:pt x="1567180" y="36365"/>
                  </a:cubicBezTo>
                  <a:cubicBezTo>
                    <a:pt x="1584960" y="42715"/>
                    <a:pt x="1606550" y="40175"/>
                    <a:pt x="1653540" y="41445"/>
                  </a:cubicBezTo>
                  <a:cubicBezTo>
                    <a:pt x="1864360" y="49065"/>
                    <a:pt x="3102610" y="3345"/>
                    <a:pt x="3390900" y="42715"/>
                  </a:cubicBezTo>
                  <a:cubicBezTo>
                    <a:pt x="3488690" y="55415"/>
                    <a:pt x="3505200" y="84625"/>
                    <a:pt x="3583940" y="94785"/>
                  </a:cubicBezTo>
                  <a:cubicBezTo>
                    <a:pt x="3703320" y="111295"/>
                    <a:pt x="3945890" y="107485"/>
                    <a:pt x="4042410" y="98595"/>
                  </a:cubicBezTo>
                  <a:cubicBezTo>
                    <a:pt x="4086860" y="94785"/>
                    <a:pt x="4094480" y="87165"/>
                    <a:pt x="4138930" y="82085"/>
                  </a:cubicBezTo>
                  <a:cubicBezTo>
                    <a:pt x="4230370" y="71925"/>
                    <a:pt x="4418330" y="65575"/>
                    <a:pt x="4565650" y="63035"/>
                  </a:cubicBezTo>
                  <a:cubicBezTo>
                    <a:pt x="4724400" y="59225"/>
                    <a:pt x="4939030" y="73195"/>
                    <a:pt x="5058410" y="60495"/>
                  </a:cubicBezTo>
                  <a:cubicBezTo>
                    <a:pt x="5128260" y="54145"/>
                    <a:pt x="5157470" y="33825"/>
                    <a:pt x="5220970" y="26205"/>
                  </a:cubicBezTo>
                  <a:cubicBezTo>
                    <a:pt x="5311140" y="17315"/>
                    <a:pt x="5495290" y="12235"/>
                    <a:pt x="5549900" y="22395"/>
                  </a:cubicBezTo>
                  <a:cubicBezTo>
                    <a:pt x="5568950" y="26205"/>
                    <a:pt x="5579110" y="28745"/>
                    <a:pt x="5586730" y="37635"/>
                  </a:cubicBezTo>
                  <a:cubicBezTo>
                    <a:pt x="5594350" y="46525"/>
                    <a:pt x="5593080" y="56685"/>
                    <a:pt x="5594350" y="75735"/>
                  </a:cubicBezTo>
                  <a:cubicBezTo>
                    <a:pt x="5596890" y="129075"/>
                    <a:pt x="5589270" y="344975"/>
                    <a:pt x="5574030" y="374185"/>
                  </a:cubicBezTo>
                  <a:cubicBezTo>
                    <a:pt x="5571490" y="381805"/>
                    <a:pt x="5567680" y="385615"/>
                    <a:pt x="5563870" y="384345"/>
                  </a:cubicBezTo>
                  <a:cubicBezTo>
                    <a:pt x="5560060" y="384345"/>
                    <a:pt x="5553710" y="376725"/>
                    <a:pt x="5554980" y="374185"/>
                  </a:cubicBezTo>
                  <a:cubicBezTo>
                    <a:pt x="5554980" y="370375"/>
                    <a:pt x="5570220" y="366565"/>
                    <a:pt x="5571490" y="367835"/>
                  </a:cubicBezTo>
                  <a:cubicBezTo>
                    <a:pt x="5574030" y="369105"/>
                    <a:pt x="5567680" y="384345"/>
                    <a:pt x="5565140" y="384345"/>
                  </a:cubicBezTo>
                  <a:cubicBezTo>
                    <a:pt x="5562600" y="385615"/>
                    <a:pt x="5557520" y="380535"/>
                    <a:pt x="5554980" y="374185"/>
                  </a:cubicBezTo>
                  <a:cubicBezTo>
                    <a:pt x="5544820" y="352595"/>
                    <a:pt x="5552440" y="239565"/>
                    <a:pt x="5557520" y="195115"/>
                  </a:cubicBezTo>
                  <a:cubicBezTo>
                    <a:pt x="5561330" y="167175"/>
                    <a:pt x="5571490" y="153205"/>
                    <a:pt x="5574030" y="129075"/>
                  </a:cubicBezTo>
                  <a:cubicBezTo>
                    <a:pt x="5575300" y="102405"/>
                    <a:pt x="5588000" y="60495"/>
                    <a:pt x="5566410" y="41445"/>
                  </a:cubicBezTo>
                  <a:cubicBezTo>
                    <a:pt x="5524500" y="3345"/>
                    <a:pt x="5318760" y="35095"/>
                    <a:pt x="5224780" y="45255"/>
                  </a:cubicBezTo>
                  <a:cubicBezTo>
                    <a:pt x="5160010" y="52875"/>
                    <a:pt x="5129530" y="73195"/>
                    <a:pt x="5058410" y="79545"/>
                  </a:cubicBezTo>
                  <a:cubicBezTo>
                    <a:pt x="4939030" y="92245"/>
                    <a:pt x="4724400" y="77005"/>
                    <a:pt x="4566920" y="82085"/>
                  </a:cubicBezTo>
                  <a:cubicBezTo>
                    <a:pt x="4419600" y="84625"/>
                    <a:pt x="4232910" y="90975"/>
                    <a:pt x="4140200" y="101135"/>
                  </a:cubicBezTo>
                  <a:cubicBezTo>
                    <a:pt x="4095750" y="106215"/>
                    <a:pt x="4086860" y="113835"/>
                    <a:pt x="4042410" y="117645"/>
                  </a:cubicBezTo>
                  <a:cubicBezTo>
                    <a:pt x="3948430" y="125265"/>
                    <a:pt x="3724910" y="131615"/>
                    <a:pt x="3605530" y="116375"/>
                  </a:cubicBezTo>
                  <a:cubicBezTo>
                    <a:pt x="3520440" y="106215"/>
                    <a:pt x="3497580" y="75735"/>
                    <a:pt x="3390900" y="61765"/>
                  </a:cubicBezTo>
                  <a:cubicBezTo>
                    <a:pt x="3089910" y="23665"/>
                    <a:pt x="1880870" y="83355"/>
                    <a:pt x="1653540" y="61765"/>
                  </a:cubicBezTo>
                  <a:cubicBezTo>
                    <a:pt x="1596390" y="55415"/>
                    <a:pt x="1595120" y="45255"/>
                    <a:pt x="1548130" y="41445"/>
                  </a:cubicBezTo>
                  <a:cubicBezTo>
                    <a:pt x="1450340" y="32555"/>
                    <a:pt x="1201420" y="47795"/>
                    <a:pt x="1094740" y="41445"/>
                  </a:cubicBezTo>
                  <a:cubicBezTo>
                    <a:pt x="1036320" y="37635"/>
                    <a:pt x="1017270" y="27475"/>
                    <a:pt x="958850" y="23665"/>
                  </a:cubicBezTo>
                  <a:cubicBezTo>
                    <a:pt x="850900" y="17315"/>
                    <a:pt x="622300" y="17315"/>
                    <a:pt x="500380" y="27475"/>
                  </a:cubicBezTo>
                  <a:cubicBezTo>
                    <a:pt x="419100" y="33825"/>
                    <a:pt x="336550" y="41445"/>
                    <a:pt x="297180" y="56685"/>
                  </a:cubicBezTo>
                  <a:cubicBezTo>
                    <a:pt x="279400" y="63035"/>
                    <a:pt x="280670" y="74465"/>
                    <a:pt x="262890" y="79545"/>
                  </a:cubicBezTo>
                  <a:cubicBezTo>
                    <a:pt x="217170" y="93515"/>
                    <a:pt x="38100" y="93515"/>
                    <a:pt x="10160" y="80815"/>
                  </a:cubicBezTo>
                  <a:cubicBezTo>
                    <a:pt x="3810" y="78275"/>
                    <a:pt x="0" y="73195"/>
                    <a:pt x="0" y="69385"/>
                  </a:cubicBezTo>
                  <a:cubicBezTo>
                    <a:pt x="0" y="65575"/>
                    <a:pt x="10160" y="60495"/>
                    <a:pt x="10160" y="60495"/>
                  </a:cubicBezTo>
                </a:path>
              </a:pathLst>
            </a:custGeom>
            <a:solidFill>
              <a:srgbClr val="FFA629"/>
            </a:solidFill>
            <a:ln cap="sq">
              <a:noFill/>
              <a:prstDash val="solid"/>
              <a:miter/>
            </a:ln>
          </p:spPr>
        </p:sp>
      </p:grpSp>
      <p:grpSp>
        <p:nvGrpSpPr>
          <p:cNvPr name="Group 13" id="13"/>
          <p:cNvGrpSpPr/>
          <p:nvPr/>
        </p:nvGrpSpPr>
        <p:grpSpPr>
          <a:xfrm rot="0">
            <a:off x="11597640" y="4233862"/>
            <a:ext cx="4229100" cy="434340"/>
            <a:chOff x="0" y="0"/>
            <a:chExt cx="5638800" cy="579120"/>
          </a:xfrm>
        </p:grpSpPr>
        <p:sp>
          <p:nvSpPr>
            <p:cNvPr name="Freeform 14" id="14"/>
            <p:cNvSpPr/>
            <p:nvPr/>
          </p:nvSpPr>
          <p:spPr>
            <a:xfrm flipH="false" flipV="false" rot="0">
              <a:off x="50771" y="50632"/>
              <a:ext cx="5536204" cy="501005"/>
            </a:xfrm>
            <a:custGeom>
              <a:avLst/>
              <a:gdLst/>
              <a:ahLst/>
              <a:cxnLst/>
              <a:rect r="r" b="b" t="t" l="l"/>
              <a:pathLst>
                <a:path h="501005" w="5536204">
                  <a:moveTo>
                    <a:pt x="20349" y="5248"/>
                  </a:moveTo>
                  <a:cubicBezTo>
                    <a:pt x="85119" y="181778"/>
                    <a:pt x="68609" y="279568"/>
                    <a:pt x="76229" y="317668"/>
                  </a:cubicBezTo>
                  <a:cubicBezTo>
                    <a:pt x="80039" y="335448"/>
                    <a:pt x="81309" y="345608"/>
                    <a:pt x="91469" y="353228"/>
                  </a:cubicBezTo>
                  <a:cubicBezTo>
                    <a:pt x="105439" y="363388"/>
                    <a:pt x="128299" y="359578"/>
                    <a:pt x="161319" y="360848"/>
                  </a:cubicBezTo>
                  <a:cubicBezTo>
                    <a:pt x="246409" y="365928"/>
                    <a:pt x="506759" y="371008"/>
                    <a:pt x="609629" y="362118"/>
                  </a:cubicBezTo>
                  <a:cubicBezTo>
                    <a:pt x="665509" y="358308"/>
                    <a:pt x="673129" y="348148"/>
                    <a:pt x="736629" y="343068"/>
                  </a:cubicBezTo>
                  <a:cubicBezTo>
                    <a:pt x="933479" y="326558"/>
                    <a:pt x="1751359" y="357038"/>
                    <a:pt x="1940589" y="343068"/>
                  </a:cubicBezTo>
                  <a:cubicBezTo>
                    <a:pt x="1999009" y="339258"/>
                    <a:pt x="2005359" y="330368"/>
                    <a:pt x="2053619" y="326558"/>
                  </a:cubicBezTo>
                  <a:cubicBezTo>
                    <a:pt x="2138709" y="320208"/>
                    <a:pt x="2321589" y="311318"/>
                    <a:pt x="2406679" y="324018"/>
                  </a:cubicBezTo>
                  <a:cubicBezTo>
                    <a:pt x="2456209" y="332908"/>
                    <a:pt x="2470179" y="350688"/>
                    <a:pt x="2522249" y="364658"/>
                  </a:cubicBezTo>
                  <a:cubicBezTo>
                    <a:pt x="2622579" y="391328"/>
                    <a:pt x="2769899" y="434508"/>
                    <a:pt x="2970559" y="454828"/>
                  </a:cubicBezTo>
                  <a:cubicBezTo>
                    <a:pt x="3375689" y="496738"/>
                    <a:pt x="4418359" y="484038"/>
                    <a:pt x="4810789" y="457368"/>
                  </a:cubicBezTo>
                  <a:cubicBezTo>
                    <a:pt x="4997479" y="444668"/>
                    <a:pt x="5128289" y="433238"/>
                    <a:pt x="5220999" y="401488"/>
                  </a:cubicBezTo>
                  <a:cubicBezTo>
                    <a:pt x="5273069" y="383708"/>
                    <a:pt x="5294659" y="348148"/>
                    <a:pt x="5334029" y="335448"/>
                  </a:cubicBezTo>
                  <a:cubicBezTo>
                    <a:pt x="5372129" y="324018"/>
                    <a:pt x="5421659" y="334178"/>
                    <a:pt x="5450869" y="325288"/>
                  </a:cubicBezTo>
                  <a:cubicBezTo>
                    <a:pt x="5471189" y="318938"/>
                    <a:pt x="5486429" y="310048"/>
                    <a:pt x="5497859" y="298618"/>
                  </a:cubicBezTo>
                  <a:cubicBezTo>
                    <a:pt x="5508019" y="289728"/>
                    <a:pt x="5513099" y="269408"/>
                    <a:pt x="5519449" y="268138"/>
                  </a:cubicBezTo>
                  <a:cubicBezTo>
                    <a:pt x="5525799" y="266868"/>
                    <a:pt x="5535959" y="274488"/>
                    <a:pt x="5535959" y="277028"/>
                  </a:cubicBezTo>
                  <a:cubicBezTo>
                    <a:pt x="5535959" y="279568"/>
                    <a:pt x="5524529" y="287188"/>
                    <a:pt x="5520719" y="285918"/>
                  </a:cubicBezTo>
                  <a:cubicBezTo>
                    <a:pt x="5518179" y="284648"/>
                    <a:pt x="5516909" y="270678"/>
                    <a:pt x="5519449" y="268138"/>
                  </a:cubicBezTo>
                  <a:cubicBezTo>
                    <a:pt x="5521989" y="266868"/>
                    <a:pt x="5533419" y="269408"/>
                    <a:pt x="5535959" y="273218"/>
                  </a:cubicBezTo>
                  <a:cubicBezTo>
                    <a:pt x="5538499" y="279568"/>
                    <a:pt x="5520719" y="304968"/>
                    <a:pt x="5508019" y="316398"/>
                  </a:cubicBezTo>
                  <a:cubicBezTo>
                    <a:pt x="5494049" y="329098"/>
                    <a:pt x="5474999" y="337988"/>
                    <a:pt x="5453409" y="344338"/>
                  </a:cubicBezTo>
                  <a:cubicBezTo>
                    <a:pt x="5424199" y="351958"/>
                    <a:pt x="5381019" y="341798"/>
                    <a:pt x="5345459" y="351958"/>
                  </a:cubicBezTo>
                  <a:cubicBezTo>
                    <a:pt x="5304819" y="364658"/>
                    <a:pt x="5276879" y="401488"/>
                    <a:pt x="5222269" y="420538"/>
                  </a:cubicBezTo>
                  <a:cubicBezTo>
                    <a:pt x="5127019" y="451018"/>
                    <a:pt x="4997479" y="463718"/>
                    <a:pt x="4810789" y="476418"/>
                  </a:cubicBezTo>
                  <a:cubicBezTo>
                    <a:pt x="4418359" y="503088"/>
                    <a:pt x="3375689" y="515788"/>
                    <a:pt x="2969289" y="473878"/>
                  </a:cubicBezTo>
                  <a:cubicBezTo>
                    <a:pt x="2766089" y="453558"/>
                    <a:pt x="2613689" y="409108"/>
                    <a:pt x="2514629" y="381168"/>
                  </a:cubicBezTo>
                  <a:cubicBezTo>
                    <a:pt x="2465099" y="368468"/>
                    <a:pt x="2453669" y="351958"/>
                    <a:pt x="2406679" y="344338"/>
                  </a:cubicBezTo>
                  <a:cubicBezTo>
                    <a:pt x="2324129" y="330368"/>
                    <a:pt x="2139979" y="339258"/>
                    <a:pt x="2054889" y="345608"/>
                  </a:cubicBezTo>
                  <a:cubicBezTo>
                    <a:pt x="2006629" y="348148"/>
                    <a:pt x="1999009" y="357038"/>
                    <a:pt x="1940589" y="362118"/>
                  </a:cubicBezTo>
                  <a:cubicBezTo>
                    <a:pt x="1750089" y="376088"/>
                    <a:pt x="904269" y="346878"/>
                    <a:pt x="717579" y="363388"/>
                  </a:cubicBezTo>
                  <a:cubicBezTo>
                    <a:pt x="662969" y="368468"/>
                    <a:pt x="659159" y="377358"/>
                    <a:pt x="610899" y="382438"/>
                  </a:cubicBezTo>
                  <a:cubicBezTo>
                    <a:pt x="511839" y="390058"/>
                    <a:pt x="245139" y="384978"/>
                    <a:pt x="160049" y="381168"/>
                  </a:cubicBezTo>
                  <a:cubicBezTo>
                    <a:pt x="127029" y="379898"/>
                    <a:pt x="107979" y="386248"/>
                    <a:pt x="90199" y="374818"/>
                  </a:cubicBezTo>
                  <a:cubicBezTo>
                    <a:pt x="73689" y="364658"/>
                    <a:pt x="63529" y="344338"/>
                    <a:pt x="57179" y="318938"/>
                  </a:cubicBezTo>
                  <a:cubicBezTo>
                    <a:pt x="43209" y="273218"/>
                    <a:pt x="63529" y="166538"/>
                    <a:pt x="49559" y="110658"/>
                  </a:cubicBezTo>
                  <a:cubicBezTo>
                    <a:pt x="39399" y="70018"/>
                    <a:pt x="-1241" y="29378"/>
                    <a:pt x="29" y="12868"/>
                  </a:cubicBezTo>
                  <a:cubicBezTo>
                    <a:pt x="29" y="6518"/>
                    <a:pt x="3839" y="1438"/>
                    <a:pt x="6379" y="168"/>
                  </a:cubicBezTo>
                  <a:cubicBezTo>
                    <a:pt x="10189" y="-1102"/>
                    <a:pt x="20349" y="5248"/>
                    <a:pt x="20349" y="5248"/>
                  </a:cubicBezTo>
                </a:path>
              </a:pathLst>
            </a:custGeom>
            <a:solidFill>
              <a:srgbClr val="FFA629"/>
            </a:solidFill>
            <a:ln cap="sq">
              <a:noFill/>
              <a:prstDash val="solid"/>
              <a:miter/>
            </a:ln>
          </p:spPr>
        </p:sp>
      </p:grpSp>
      <p:grpSp>
        <p:nvGrpSpPr>
          <p:cNvPr name="Group 15" id="15"/>
          <p:cNvGrpSpPr/>
          <p:nvPr/>
        </p:nvGrpSpPr>
        <p:grpSpPr>
          <a:xfrm rot="0">
            <a:off x="11316652" y="6103620"/>
            <a:ext cx="5023485" cy="489585"/>
            <a:chOff x="0" y="0"/>
            <a:chExt cx="6697980" cy="652780"/>
          </a:xfrm>
        </p:grpSpPr>
        <p:sp>
          <p:nvSpPr>
            <p:cNvPr name="Freeform 16" id="16"/>
            <p:cNvSpPr/>
            <p:nvPr/>
          </p:nvSpPr>
          <p:spPr>
            <a:xfrm flipH="false" flipV="false" rot="0">
              <a:off x="50298" y="-17841"/>
              <a:ext cx="6596111" cy="619821"/>
            </a:xfrm>
            <a:custGeom>
              <a:avLst/>
              <a:gdLst/>
              <a:ahLst/>
              <a:cxnLst/>
              <a:rect r="r" b="b" t="t" l="l"/>
              <a:pathLst>
                <a:path h="619821" w="6596111">
                  <a:moveTo>
                    <a:pt x="502" y="86421"/>
                  </a:moveTo>
                  <a:cubicBezTo>
                    <a:pt x="277362" y="54671"/>
                    <a:pt x="947922" y="54671"/>
                    <a:pt x="1110482" y="68641"/>
                  </a:cubicBezTo>
                  <a:cubicBezTo>
                    <a:pt x="1163822" y="72451"/>
                    <a:pt x="1161282" y="81341"/>
                    <a:pt x="1215892" y="85151"/>
                  </a:cubicBezTo>
                  <a:cubicBezTo>
                    <a:pt x="1393692" y="99121"/>
                    <a:pt x="2106162" y="77531"/>
                    <a:pt x="2369052" y="86421"/>
                  </a:cubicBezTo>
                  <a:cubicBezTo>
                    <a:pt x="2504942" y="91501"/>
                    <a:pt x="2516372" y="100391"/>
                    <a:pt x="2677662" y="105471"/>
                  </a:cubicBezTo>
                  <a:cubicBezTo>
                    <a:pt x="3245352" y="124521"/>
                    <a:pt x="6360662" y="6411"/>
                    <a:pt x="6537192" y="106741"/>
                  </a:cubicBezTo>
                  <a:cubicBezTo>
                    <a:pt x="6553702" y="116901"/>
                    <a:pt x="6551162" y="121981"/>
                    <a:pt x="6556242" y="139761"/>
                  </a:cubicBezTo>
                  <a:cubicBezTo>
                    <a:pt x="6570212" y="190561"/>
                    <a:pt x="6551162" y="377251"/>
                    <a:pt x="6557512" y="454721"/>
                  </a:cubicBezTo>
                  <a:cubicBezTo>
                    <a:pt x="6561322" y="499171"/>
                    <a:pt x="6566402" y="533461"/>
                    <a:pt x="6574022" y="562671"/>
                  </a:cubicBezTo>
                  <a:cubicBezTo>
                    <a:pt x="6580372" y="581721"/>
                    <a:pt x="6599422" y="602041"/>
                    <a:pt x="6595612" y="609661"/>
                  </a:cubicBezTo>
                  <a:cubicBezTo>
                    <a:pt x="6593072" y="613471"/>
                    <a:pt x="6576562" y="614741"/>
                    <a:pt x="6576562" y="613471"/>
                  </a:cubicBezTo>
                  <a:cubicBezTo>
                    <a:pt x="6575292" y="612201"/>
                    <a:pt x="6586722" y="600771"/>
                    <a:pt x="6589262" y="600771"/>
                  </a:cubicBezTo>
                  <a:cubicBezTo>
                    <a:pt x="6591802" y="602041"/>
                    <a:pt x="6591802" y="618551"/>
                    <a:pt x="6590532" y="619821"/>
                  </a:cubicBezTo>
                  <a:cubicBezTo>
                    <a:pt x="6586722" y="619821"/>
                    <a:pt x="6563862" y="586801"/>
                    <a:pt x="6554972" y="563941"/>
                  </a:cubicBezTo>
                  <a:cubicBezTo>
                    <a:pt x="6543542" y="534731"/>
                    <a:pt x="6542272" y="500441"/>
                    <a:pt x="6537192" y="454721"/>
                  </a:cubicBezTo>
                  <a:cubicBezTo>
                    <a:pt x="6530842" y="374711"/>
                    <a:pt x="6617202" y="209611"/>
                    <a:pt x="6529572" y="124521"/>
                  </a:cubicBezTo>
                  <a:cubicBezTo>
                    <a:pt x="6233662" y="-165039"/>
                    <a:pt x="3244082" y="143571"/>
                    <a:pt x="2677662" y="125791"/>
                  </a:cubicBezTo>
                  <a:cubicBezTo>
                    <a:pt x="2516372" y="120711"/>
                    <a:pt x="2504942" y="110551"/>
                    <a:pt x="2369052" y="105471"/>
                  </a:cubicBezTo>
                  <a:cubicBezTo>
                    <a:pt x="2106162" y="97851"/>
                    <a:pt x="1392422" y="118171"/>
                    <a:pt x="1214622" y="104201"/>
                  </a:cubicBezTo>
                  <a:cubicBezTo>
                    <a:pt x="1161282" y="100391"/>
                    <a:pt x="1163822" y="91501"/>
                    <a:pt x="1110482" y="87691"/>
                  </a:cubicBezTo>
                  <a:cubicBezTo>
                    <a:pt x="951732" y="74991"/>
                    <a:pt x="312922" y="74991"/>
                    <a:pt x="137662" y="87691"/>
                  </a:cubicBezTo>
                  <a:cubicBezTo>
                    <a:pt x="72892" y="92771"/>
                    <a:pt x="19552" y="118171"/>
                    <a:pt x="4312" y="106741"/>
                  </a:cubicBezTo>
                  <a:cubicBezTo>
                    <a:pt x="-2038" y="102931"/>
                    <a:pt x="502" y="86421"/>
                    <a:pt x="502" y="86421"/>
                  </a:cubicBezTo>
                </a:path>
              </a:pathLst>
            </a:custGeom>
            <a:solidFill>
              <a:srgbClr val="0D99FF"/>
            </a:solidFill>
            <a:ln cap="sq">
              <a:noFill/>
              <a:prstDash val="solid"/>
              <a:miter/>
            </a:ln>
          </p:spPr>
        </p:sp>
      </p:grpSp>
      <p:grpSp>
        <p:nvGrpSpPr>
          <p:cNvPr name="Group 17" id="17"/>
          <p:cNvGrpSpPr/>
          <p:nvPr/>
        </p:nvGrpSpPr>
        <p:grpSpPr>
          <a:xfrm rot="0">
            <a:off x="11283315" y="6131242"/>
            <a:ext cx="5013008" cy="634365"/>
            <a:chOff x="0" y="0"/>
            <a:chExt cx="6684010" cy="845820"/>
          </a:xfrm>
        </p:grpSpPr>
        <p:sp>
          <p:nvSpPr>
            <p:cNvPr name="Freeform 18" id="18"/>
            <p:cNvSpPr/>
            <p:nvPr/>
          </p:nvSpPr>
          <p:spPr>
            <a:xfrm flipH="false" flipV="false" rot="0">
              <a:off x="45567" y="50701"/>
              <a:ext cx="6587643" cy="759726"/>
            </a:xfrm>
            <a:custGeom>
              <a:avLst/>
              <a:gdLst/>
              <a:ahLst/>
              <a:cxnLst/>
              <a:rect r="r" b="b" t="t" l="l"/>
              <a:pathLst>
                <a:path h="759726" w="6587643">
                  <a:moveTo>
                    <a:pt x="26823" y="10259"/>
                  </a:moveTo>
                  <a:cubicBezTo>
                    <a:pt x="31903" y="255369"/>
                    <a:pt x="50953" y="346809"/>
                    <a:pt x="64923" y="414119"/>
                  </a:cubicBezTo>
                  <a:cubicBezTo>
                    <a:pt x="75083" y="466189"/>
                    <a:pt x="83973" y="514449"/>
                    <a:pt x="97943" y="553819"/>
                  </a:cubicBezTo>
                  <a:cubicBezTo>
                    <a:pt x="108103" y="584299"/>
                    <a:pt x="128423" y="605889"/>
                    <a:pt x="134773" y="632559"/>
                  </a:cubicBezTo>
                  <a:cubicBezTo>
                    <a:pt x="139853" y="656689"/>
                    <a:pt x="125883" y="696059"/>
                    <a:pt x="134773" y="708759"/>
                  </a:cubicBezTo>
                  <a:cubicBezTo>
                    <a:pt x="141123" y="716379"/>
                    <a:pt x="146203" y="713839"/>
                    <a:pt x="165253" y="716379"/>
                  </a:cubicBezTo>
                  <a:cubicBezTo>
                    <a:pt x="373533" y="741779"/>
                    <a:pt x="3350413" y="737969"/>
                    <a:pt x="3980333" y="723999"/>
                  </a:cubicBezTo>
                  <a:cubicBezTo>
                    <a:pt x="4188613" y="718919"/>
                    <a:pt x="4234333" y="715109"/>
                    <a:pt x="4394353" y="703679"/>
                  </a:cubicBezTo>
                  <a:cubicBezTo>
                    <a:pt x="4617873" y="688439"/>
                    <a:pt x="4915053" y="645259"/>
                    <a:pt x="5196993" y="631289"/>
                  </a:cubicBezTo>
                  <a:cubicBezTo>
                    <a:pt x="5508143" y="617319"/>
                    <a:pt x="6049163" y="642719"/>
                    <a:pt x="6183783" y="627479"/>
                  </a:cubicBezTo>
                  <a:cubicBezTo>
                    <a:pt x="6219343" y="623669"/>
                    <a:pt x="6221883" y="616049"/>
                    <a:pt x="6251093" y="613509"/>
                  </a:cubicBezTo>
                  <a:cubicBezTo>
                    <a:pt x="6303163" y="607159"/>
                    <a:pt x="6416193" y="621129"/>
                    <a:pt x="6475883" y="609699"/>
                  </a:cubicBezTo>
                  <a:cubicBezTo>
                    <a:pt x="6516523" y="602079"/>
                    <a:pt x="6557163" y="569059"/>
                    <a:pt x="6574943" y="571599"/>
                  </a:cubicBezTo>
                  <a:cubicBezTo>
                    <a:pt x="6581293" y="572869"/>
                    <a:pt x="6587643" y="579219"/>
                    <a:pt x="6587643" y="581759"/>
                  </a:cubicBezTo>
                  <a:cubicBezTo>
                    <a:pt x="6586373" y="585569"/>
                    <a:pt x="6572403" y="590649"/>
                    <a:pt x="6569863" y="588109"/>
                  </a:cubicBezTo>
                  <a:cubicBezTo>
                    <a:pt x="6567323" y="586839"/>
                    <a:pt x="6569863" y="572869"/>
                    <a:pt x="6573673" y="571599"/>
                  </a:cubicBezTo>
                  <a:cubicBezTo>
                    <a:pt x="6576213" y="570329"/>
                    <a:pt x="6587643" y="576679"/>
                    <a:pt x="6587643" y="580489"/>
                  </a:cubicBezTo>
                  <a:cubicBezTo>
                    <a:pt x="6586373" y="591919"/>
                    <a:pt x="6520333" y="618589"/>
                    <a:pt x="6475883" y="628749"/>
                  </a:cubicBezTo>
                  <a:cubicBezTo>
                    <a:pt x="6416193" y="641449"/>
                    <a:pt x="6306973" y="626209"/>
                    <a:pt x="6253633" y="631289"/>
                  </a:cubicBezTo>
                  <a:cubicBezTo>
                    <a:pt x="6224423" y="635099"/>
                    <a:pt x="6221883" y="642719"/>
                    <a:pt x="6183783" y="646529"/>
                  </a:cubicBezTo>
                  <a:cubicBezTo>
                    <a:pt x="6046623" y="661769"/>
                    <a:pt x="5510683" y="636369"/>
                    <a:pt x="5199533" y="650339"/>
                  </a:cubicBezTo>
                  <a:cubicBezTo>
                    <a:pt x="4917593" y="664309"/>
                    <a:pt x="4619143" y="707489"/>
                    <a:pt x="4394353" y="722729"/>
                  </a:cubicBezTo>
                  <a:cubicBezTo>
                    <a:pt x="4234333" y="734159"/>
                    <a:pt x="4188613" y="737969"/>
                    <a:pt x="3980333" y="743049"/>
                  </a:cubicBezTo>
                  <a:cubicBezTo>
                    <a:pt x="3349143" y="757019"/>
                    <a:pt x="381153" y="776069"/>
                    <a:pt x="160173" y="734159"/>
                  </a:cubicBezTo>
                  <a:cubicBezTo>
                    <a:pt x="137313" y="730349"/>
                    <a:pt x="133503" y="731619"/>
                    <a:pt x="124613" y="721459"/>
                  </a:cubicBezTo>
                  <a:cubicBezTo>
                    <a:pt x="109373" y="702409"/>
                    <a:pt x="120803" y="637639"/>
                    <a:pt x="109373" y="608429"/>
                  </a:cubicBezTo>
                  <a:cubicBezTo>
                    <a:pt x="101753" y="586839"/>
                    <a:pt x="87783" y="579219"/>
                    <a:pt x="78893" y="556359"/>
                  </a:cubicBezTo>
                  <a:cubicBezTo>
                    <a:pt x="63653" y="522069"/>
                    <a:pt x="49683" y="454759"/>
                    <a:pt x="43333" y="415389"/>
                  </a:cubicBezTo>
                  <a:cubicBezTo>
                    <a:pt x="39523" y="384909"/>
                    <a:pt x="44603" y="367129"/>
                    <a:pt x="40793" y="336649"/>
                  </a:cubicBezTo>
                  <a:cubicBezTo>
                    <a:pt x="34443" y="294739"/>
                    <a:pt x="12853" y="237589"/>
                    <a:pt x="6503" y="185519"/>
                  </a:cubicBezTo>
                  <a:cubicBezTo>
                    <a:pt x="153" y="129639"/>
                    <a:pt x="-3657" y="33119"/>
                    <a:pt x="5233" y="10259"/>
                  </a:cubicBezTo>
                  <a:cubicBezTo>
                    <a:pt x="7773" y="3909"/>
                    <a:pt x="11583" y="99"/>
                    <a:pt x="15393" y="99"/>
                  </a:cubicBezTo>
                  <a:cubicBezTo>
                    <a:pt x="17933" y="-1171"/>
                    <a:pt x="26823" y="10259"/>
                    <a:pt x="26823" y="10259"/>
                  </a:cubicBezTo>
                </a:path>
              </a:pathLst>
            </a:custGeom>
            <a:solidFill>
              <a:srgbClr val="0D99FF"/>
            </a:solidFill>
            <a:ln cap="sq">
              <a:noFill/>
              <a:prstDash val="solid"/>
              <a:miter/>
            </a:ln>
          </p:spPr>
        </p:sp>
      </p:grpSp>
      <p:grpSp>
        <p:nvGrpSpPr>
          <p:cNvPr name="Group 19" id="19"/>
          <p:cNvGrpSpPr/>
          <p:nvPr/>
        </p:nvGrpSpPr>
        <p:grpSpPr>
          <a:xfrm rot="0">
            <a:off x="9614535" y="8042910"/>
            <a:ext cx="4542472" cy="1018223"/>
            <a:chOff x="0" y="0"/>
            <a:chExt cx="6056630" cy="1357630"/>
          </a:xfrm>
        </p:grpSpPr>
        <p:sp>
          <p:nvSpPr>
            <p:cNvPr name="Freeform 20" id="20"/>
            <p:cNvSpPr/>
            <p:nvPr/>
          </p:nvSpPr>
          <p:spPr>
            <a:xfrm flipH="false" flipV="false" rot="0">
              <a:off x="50701" y="33226"/>
              <a:ext cx="5954650" cy="1273604"/>
            </a:xfrm>
            <a:custGeom>
              <a:avLst/>
              <a:gdLst/>
              <a:ahLst/>
              <a:cxnLst/>
              <a:rect r="r" b="b" t="t" l="l"/>
              <a:pathLst>
                <a:path h="1273604" w="5954650">
                  <a:moveTo>
                    <a:pt x="10259" y="131874"/>
                  </a:moveTo>
                  <a:cubicBezTo>
                    <a:pt x="548739" y="126794"/>
                    <a:pt x="593189" y="111554"/>
                    <a:pt x="660499" y="105204"/>
                  </a:cubicBezTo>
                  <a:cubicBezTo>
                    <a:pt x="741779" y="98854"/>
                    <a:pt x="828139" y="103934"/>
                    <a:pt x="925929" y="95044"/>
                  </a:cubicBezTo>
                  <a:cubicBezTo>
                    <a:pt x="1046579" y="83614"/>
                    <a:pt x="1131669" y="51864"/>
                    <a:pt x="1332329" y="37894"/>
                  </a:cubicBezTo>
                  <a:cubicBezTo>
                    <a:pt x="1896209" y="-1476"/>
                    <a:pt x="4141569" y="55674"/>
                    <a:pt x="4568289" y="36624"/>
                  </a:cubicBezTo>
                  <a:cubicBezTo>
                    <a:pt x="4673699" y="31544"/>
                    <a:pt x="4673699" y="22654"/>
                    <a:pt x="4765139" y="18844"/>
                  </a:cubicBezTo>
                  <a:cubicBezTo>
                    <a:pt x="4970879" y="9954"/>
                    <a:pt x="5612229" y="-17986"/>
                    <a:pt x="5774789" y="17574"/>
                  </a:cubicBezTo>
                  <a:cubicBezTo>
                    <a:pt x="5829399" y="30274"/>
                    <a:pt x="5861149" y="46784"/>
                    <a:pt x="5878929" y="67104"/>
                  </a:cubicBezTo>
                  <a:cubicBezTo>
                    <a:pt x="5890359" y="78534"/>
                    <a:pt x="5892899" y="88694"/>
                    <a:pt x="5895439" y="106474"/>
                  </a:cubicBezTo>
                  <a:cubicBezTo>
                    <a:pt x="5900519" y="144574"/>
                    <a:pt x="5882739" y="205534"/>
                    <a:pt x="5878929" y="286814"/>
                  </a:cubicBezTo>
                  <a:cubicBezTo>
                    <a:pt x="5870039" y="455724"/>
                    <a:pt x="5844639" y="904034"/>
                    <a:pt x="5877659" y="1074214"/>
                  </a:cubicBezTo>
                  <a:cubicBezTo>
                    <a:pt x="5894169" y="1160574"/>
                    <a:pt x="5962749" y="1241854"/>
                    <a:pt x="5953859" y="1260904"/>
                  </a:cubicBezTo>
                  <a:cubicBezTo>
                    <a:pt x="5951319" y="1267254"/>
                    <a:pt x="5936079" y="1269794"/>
                    <a:pt x="5934809" y="1267254"/>
                  </a:cubicBezTo>
                  <a:cubicBezTo>
                    <a:pt x="5933539" y="1265984"/>
                    <a:pt x="5937349" y="1254554"/>
                    <a:pt x="5939889" y="1253284"/>
                  </a:cubicBezTo>
                  <a:cubicBezTo>
                    <a:pt x="5943699" y="1253284"/>
                    <a:pt x="5952589" y="1257094"/>
                    <a:pt x="5953859" y="1259634"/>
                  </a:cubicBezTo>
                  <a:cubicBezTo>
                    <a:pt x="5953859" y="1263444"/>
                    <a:pt x="5947509" y="1273604"/>
                    <a:pt x="5943699" y="1273604"/>
                  </a:cubicBezTo>
                  <a:cubicBezTo>
                    <a:pt x="5927189" y="1271064"/>
                    <a:pt x="5876389" y="1165654"/>
                    <a:pt x="5858609" y="1074214"/>
                  </a:cubicBezTo>
                  <a:cubicBezTo>
                    <a:pt x="5823049" y="901494"/>
                    <a:pt x="5850989" y="454454"/>
                    <a:pt x="5858609" y="285544"/>
                  </a:cubicBezTo>
                  <a:cubicBezTo>
                    <a:pt x="5862419" y="206804"/>
                    <a:pt x="5877659" y="144574"/>
                    <a:pt x="5875119" y="111554"/>
                  </a:cubicBezTo>
                  <a:cubicBezTo>
                    <a:pt x="5873849" y="97584"/>
                    <a:pt x="5875119" y="91234"/>
                    <a:pt x="5867499" y="82344"/>
                  </a:cubicBezTo>
                  <a:cubicBezTo>
                    <a:pt x="5853529" y="65834"/>
                    <a:pt x="5823049" y="49324"/>
                    <a:pt x="5773519" y="37894"/>
                  </a:cubicBezTo>
                  <a:cubicBezTo>
                    <a:pt x="5618579" y="2334"/>
                    <a:pt x="4970879" y="29004"/>
                    <a:pt x="4765139" y="37894"/>
                  </a:cubicBezTo>
                  <a:cubicBezTo>
                    <a:pt x="4673699" y="41704"/>
                    <a:pt x="4673699" y="50594"/>
                    <a:pt x="4568289" y="55674"/>
                  </a:cubicBezTo>
                  <a:cubicBezTo>
                    <a:pt x="4141569" y="74724"/>
                    <a:pt x="1897479" y="17574"/>
                    <a:pt x="1332329" y="56944"/>
                  </a:cubicBezTo>
                  <a:cubicBezTo>
                    <a:pt x="1131669" y="70914"/>
                    <a:pt x="1046579" y="102664"/>
                    <a:pt x="925929" y="114094"/>
                  </a:cubicBezTo>
                  <a:cubicBezTo>
                    <a:pt x="829409" y="121714"/>
                    <a:pt x="744319" y="117904"/>
                    <a:pt x="664309" y="124254"/>
                  </a:cubicBezTo>
                  <a:cubicBezTo>
                    <a:pt x="594459" y="130604"/>
                    <a:pt x="550009" y="145844"/>
                    <a:pt x="472539" y="150924"/>
                  </a:cubicBezTo>
                  <a:cubicBezTo>
                    <a:pt x="351889" y="159814"/>
                    <a:pt x="49629" y="167434"/>
                    <a:pt x="10259" y="152194"/>
                  </a:cubicBezTo>
                  <a:cubicBezTo>
                    <a:pt x="2639" y="149654"/>
                    <a:pt x="99" y="145844"/>
                    <a:pt x="99" y="143304"/>
                  </a:cubicBezTo>
                  <a:cubicBezTo>
                    <a:pt x="-1171" y="139494"/>
                    <a:pt x="10259" y="131874"/>
                    <a:pt x="10259" y="131874"/>
                  </a:cubicBezTo>
                </a:path>
              </a:pathLst>
            </a:custGeom>
            <a:solidFill>
              <a:srgbClr val="14AE5C"/>
            </a:solidFill>
            <a:ln cap="sq">
              <a:noFill/>
              <a:prstDash val="solid"/>
              <a:miter/>
            </a:ln>
          </p:spPr>
        </p:sp>
      </p:grpSp>
      <p:grpSp>
        <p:nvGrpSpPr>
          <p:cNvPr name="Group 21" id="21"/>
          <p:cNvGrpSpPr/>
          <p:nvPr/>
        </p:nvGrpSpPr>
        <p:grpSpPr>
          <a:xfrm rot="0">
            <a:off x="9585960" y="8141970"/>
            <a:ext cx="4571047" cy="1076325"/>
            <a:chOff x="0" y="0"/>
            <a:chExt cx="6094730" cy="1435100"/>
          </a:xfrm>
        </p:grpSpPr>
        <p:sp>
          <p:nvSpPr>
            <p:cNvPr name="Freeform 22" id="22"/>
            <p:cNvSpPr/>
            <p:nvPr/>
          </p:nvSpPr>
          <p:spPr>
            <a:xfrm flipH="false" flipV="false" rot="0">
              <a:off x="41839" y="50800"/>
              <a:ext cx="6002091" cy="1345594"/>
            </a:xfrm>
            <a:custGeom>
              <a:avLst/>
              <a:gdLst/>
              <a:ahLst/>
              <a:cxnLst/>
              <a:rect r="r" b="b" t="t" l="l"/>
              <a:pathLst>
                <a:path h="1345594" w="6002091">
                  <a:moveTo>
                    <a:pt x="29281" y="10160"/>
                  </a:moveTo>
                  <a:cubicBezTo>
                    <a:pt x="31821" y="426720"/>
                    <a:pt x="35631" y="444500"/>
                    <a:pt x="44521" y="494030"/>
                  </a:cubicBezTo>
                  <a:cubicBezTo>
                    <a:pt x="61031" y="579120"/>
                    <a:pt x="96591" y="736600"/>
                    <a:pt x="125801" y="840740"/>
                  </a:cubicBezTo>
                  <a:cubicBezTo>
                    <a:pt x="151201" y="930910"/>
                    <a:pt x="194381" y="1023620"/>
                    <a:pt x="208351" y="1085850"/>
                  </a:cubicBezTo>
                  <a:cubicBezTo>
                    <a:pt x="215971" y="1121410"/>
                    <a:pt x="209621" y="1153160"/>
                    <a:pt x="217241" y="1172210"/>
                  </a:cubicBezTo>
                  <a:cubicBezTo>
                    <a:pt x="222321" y="1183640"/>
                    <a:pt x="232481" y="1186180"/>
                    <a:pt x="235021" y="1195070"/>
                  </a:cubicBezTo>
                  <a:cubicBezTo>
                    <a:pt x="238831" y="1205230"/>
                    <a:pt x="232481" y="1224280"/>
                    <a:pt x="237561" y="1230630"/>
                  </a:cubicBezTo>
                  <a:cubicBezTo>
                    <a:pt x="241371" y="1234440"/>
                    <a:pt x="246451" y="1233170"/>
                    <a:pt x="257881" y="1234440"/>
                  </a:cubicBezTo>
                  <a:cubicBezTo>
                    <a:pt x="312491" y="1238250"/>
                    <a:pt x="591891" y="1238250"/>
                    <a:pt x="758261" y="1225550"/>
                  </a:cubicBezTo>
                  <a:cubicBezTo>
                    <a:pt x="923361" y="1214120"/>
                    <a:pt x="1052901" y="1176020"/>
                    <a:pt x="1249751" y="1163320"/>
                  </a:cubicBezTo>
                  <a:cubicBezTo>
                    <a:pt x="1545661" y="1144270"/>
                    <a:pt x="2079061" y="1137920"/>
                    <a:pt x="2361001" y="1162050"/>
                  </a:cubicBezTo>
                  <a:cubicBezTo>
                    <a:pt x="2537531" y="1176020"/>
                    <a:pt x="2603571" y="1217930"/>
                    <a:pt x="2788991" y="1233170"/>
                  </a:cubicBezTo>
                  <a:cubicBezTo>
                    <a:pt x="3125541" y="1262380"/>
                    <a:pt x="3895161" y="1212850"/>
                    <a:pt x="4226631" y="1238250"/>
                  </a:cubicBezTo>
                  <a:cubicBezTo>
                    <a:pt x="4401891" y="1250950"/>
                    <a:pt x="4471741" y="1283970"/>
                    <a:pt x="4626681" y="1297940"/>
                  </a:cubicBezTo>
                  <a:cubicBezTo>
                    <a:pt x="4841311" y="1315720"/>
                    <a:pt x="5196911" y="1350010"/>
                    <a:pt x="5396301" y="1314450"/>
                  </a:cubicBezTo>
                  <a:cubicBezTo>
                    <a:pt x="5530921" y="1290320"/>
                    <a:pt x="5636331" y="1209040"/>
                    <a:pt x="5721421" y="1184910"/>
                  </a:cubicBezTo>
                  <a:cubicBezTo>
                    <a:pt x="5773491" y="1170940"/>
                    <a:pt x="5825561" y="1173480"/>
                    <a:pt x="5852231" y="1163320"/>
                  </a:cubicBezTo>
                  <a:cubicBezTo>
                    <a:pt x="5866201" y="1158240"/>
                    <a:pt x="5867471" y="1149350"/>
                    <a:pt x="5881441" y="1145540"/>
                  </a:cubicBezTo>
                  <a:cubicBezTo>
                    <a:pt x="5905571" y="1137920"/>
                    <a:pt x="5974151" y="1134110"/>
                    <a:pt x="5990661" y="1141730"/>
                  </a:cubicBezTo>
                  <a:cubicBezTo>
                    <a:pt x="5997011" y="1144270"/>
                    <a:pt x="6002091" y="1149350"/>
                    <a:pt x="6002091" y="1151890"/>
                  </a:cubicBezTo>
                  <a:cubicBezTo>
                    <a:pt x="6000821" y="1155700"/>
                    <a:pt x="5985581" y="1160780"/>
                    <a:pt x="5984311" y="1159510"/>
                  </a:cubicBezTo>
                  <a:cubicBezTo>
                    <a:pt x="5981771" y="1156970"/>
                    <a:pt x="5988121" y="1141730"/>
                    <a:pt x="5989391" y="1141730"/>
                  </a:cubicBezTo>
                  <a:cubicBezTo>
                    <a:pt x="5991931" y="1141730"/>
                    <a:pt x="5998281" y="1156970"/>
                    <a:pt x="5994471" y="1162050"/>
                  </a:cubicBezTo>
                  <a:cubicBezTo>
                    <a:pt x="5985581" y="1172210"/>
                    <a:pt x="5927161" y="1159510"/>
                    <a:pt x="5886521" y="1165860"/>
                  </a:cubicBezTo>
                  <a:cubicBezTo>
                    <a:pt x="5833181" y="1172210"/>
                    <a:pt x="5754441" y="1188720"/>
                    <a:pt x="5701101" y="1209040"/>
                  </a:cubicBezTo>
                  <a:cubicBezTo>
                    <a:pt x="5657921" y="1225550"/>
                    <a:pt x="5628711" y="1253490"/>
                    <a:pt x="5589341" y="1267460"/>
                  </a:cubicBezTo>
                  <a:cubicBezTo>
                    <a:pt x="5552511" y="1281430"/>
                    <a:pt x="5508061" y="1281430"/>
                    <a:pt x="5473771" y="1292860"/>
                  </a:cubicBezTo>
                  <a:cubicBezTo>
                    <a:pt x="5444561" y="1304290"/>
                    <a:pt x="5438211" y="1323340"/>
                    <a:pt x="5396301" y="1333500"/>
                  </a:cubicBezTo>
                  <a:cubicBezTo>
                    <a:pt x="5274381" y="1361440"/>
                    <a:pt x="4840041" y="1334770"/>
                    <a:pt x="4624141" y="1315720"/>
                  </a:cubicBezTo>
                  <a:cubicBezTo>
                    <a:pt x="4469201" y="1303020"/>
                    <a:pt x="4400621" y="1270000"/>
                    <a:pt x="4226631" y="1257300"/>
                  </a:cubicBezTo>
                  <a:cubicBezTo>
                    <a:pt x="3896431" y="1231900"/>
                    <a:pt x="3123001" y="1281430"/>
                    <a:pt x="2786451" y="1252220"/>
                  </a:cubicBezTo>
                  <a:cubicBezTo>
                    <a:pt x="2601031" y="1236980"/>
                    <a:pt x="2537531" y="1195070"/>
                    <a:pt x="2361001" y="1181100"/>
                  </a:cubicBezTo>
                  <a:cubicBezTo>
                    <a:pt x="2079061" y="1156970"/>
                    <a:pt x="1546931" y="1163320"/>
                    <a:pt x="1251021" y="1182370"/>
                  </a:cubicBezTo>
                  <a:cubicBezTo>
                    <a:pt x="1054171" y="1195070"/>
                    <a:pt x="924631" y="1233170"/>
                    <a:pt x="759531" y="1245870"/>
                  </a:cubicBezTo>
                  <a:cubicBezTo>
                    <a:pt x="591891" y="1258570"/>
                    <a:pt x="321381" y="1272540"/>
                    <a:pt x="252801" y="1256030"/>
                  </a:cubicBezTo>
                  <a:cubicBezTo>
                    <a:pt x="233751" y="1250950"/>
                    <a:pt x="227401" y="1248410"/>
                    <a:pt x="218511" y="1236980"/>
                  </a:cubicBezTo>
                  <a:cubicBezTo>
                    <a:pt x="208351" y="1224280"/>
                    <a:pt x="204541" y="1200150"/>
                    <a:pt x="200731" y="1178560"/>
                  </a:cubicBezTo>
                  <a:cubicBezTo>
                    <a:pt x="194381" y="1153160"/>
                    <a:pt x="198191" y="1127760"/>
                    <a:pt x="190571" y="1092200"/>
                  </a:cubicBezTo>
                  <a:cubicBezTo>
                    <a:pt x="176601" y="1031240"/>
                    <a:pt x="133421" y="935990"/>
                    <a:pt x="108021" y="845820"/>
                  </a:cubicBezTo>
                  <a:cubicBezTo>
                    <a:pt x="77541" y="740410"/>
                    <a:pt x="41981" y="581660"/>
                    <a:pt x="25471" y="495300"/>
                  </a:cubicBezTo>
                  <a:cubicBezTo>
                    <a:pt x="16581" y="445770"/>
                    <a:pt x="12771" y="426720"/>
                    <a:pt x="8961" y="377190"/>
                  </a:cubicBezTo>
                  <a:cubicBezTo>
                    <a:pt x="2611" y="288290"/>
                    <a:pt x="-7549" y="45720"/>
                    <a:pt x="8961" y="10160"/>
                  </a:cubicBezTo>
                  <a:cubicBezTo>
                    <a:pt x="11501" y="3810"/>
                    <a:pt x="16581" y="0"/>
                    <a:pt x="20391" y="0"/>
                  </a:cubicBezTo>
                  <a:cubicBezTo>
                    <a:pt x="22931" y="0"/>
                    <a:pt x="29281" y="10160"/>
                    <a:pt x="29281" y="10160"/>
                  </a:cubicBezTo>
                </a:path>
              </a:pathLst>
            </a:custGeom>
            <a:solidFill>
              <a:srgbClr val="14AE5C"/>
            </a:solidFill>
            <a:ln cap="sq">
              <a:noFill/>
              <a:prstDash val="solid"/>
              <a:miter/>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4" id="4"/>
          <p:cNvSpPr txBox="true"/>
          <p:nvPr/>
        </p:nvSpPr>
        <p:spPr>
          <a:xfrm rot="0">
            <a:off x="1028700" y="1123950"/>
            <a:ext cx="9602458" cy="785630"/>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Kesimpulan</a:t>
            </a:r>
          </a:p>
        </p:txBody>
      </p:sp>
      <p:sp>
        <p:nvSpPr>
          <p:cNvPr name="TextBox 5" id="5"/>
          <p:cNvSpPr txBox="true"/>
          <p:nvPr/>
        </p:nvSpPr>
        <p:spPr>
          <a:xfrm rot="0">
            <a:off x="1028700" y="2068144"/>
            <a:ext cx="16230600" cy="2720908"/>
          </a:xfrm>
          <a:prstGeom prst="rect">
            <a:avLst/>
          </a:prstGeom>
        </p:spPr>
        <p:txBody>
          <a:bodyPr anchor="t" rtlCol="false" tIns="0" lIns="0" bIns="0" rIns="0">
            <a:spAutoFit/>
          </a:bodyPr>
          <a:lstStyle/>
          <a:p>
            <a:pPr algn="just">
              <a:lnSpc>
                <a:spcPts val="2729"/>
              </a:lnSpc>
            </a:pPr>
            <a:r>
              <a:rPr lang="en-US" sz="1949">
                <a:solidFill>
                  <a:srgbClr val="000000"/>
                </a:solidFill>
                <a:latin typeface="Canva Sans"/>
                <a:ea typeface="Canva Sans"/>
                <a:cs typeface="Canva Sans"/>
                <a:sym typeface="Canva Sans"/>
              </a:rPr>
              <a:t> Kesimpulan pada project UTS di case yang saya ambil adalah setiap protokol memilik keunggulan dan kekurangannya yang mana ini harus kita sesuaikan pula dengan kebutuhan yang ada, apabila salah memilih protokol akan berakibat fatal pada informasi/pesan yang akan disampaikan. Mungkin bisa terjadi eror, pesan tidak lengkap ataupun hal lainnya. Maka dari itu, penting sekali untuk kita mengetahui fungsi dan alur penggunaan setiap protok</a:t>
            </a:r>
            <a:r>
              <a:rPr lang="en-US" sz="1949">
                <a:solidFill>
                  <a:srgbClr val="000000"/>
                </a:solidFill>
                <a:latin typeface="Canva Sans"/>
                <a:ea typeface="Canva Sans"/>
                <a:cs typeface="Canva Sans"/>
                <a:sym typeface="Canva Sans"/>
              </a:rPr>
              <a:t>ol yang ingin digunakan. </a:t>
            </a:r>
          </a:p>
          <a:p>
            <a:pPr algn="just">
              <a:lnSpc>
                <a:spcPts val="2729"/>
              </a:lnSpc>
            </a:pPr>
          </a:p>
          <a:p>
            <a:pPr algn="just">
              <a:lnSpc>
                <a:spcPts val="2729"/>
              </a:lnSpc>
            </a:pPr>
          </a:p>
          <a:p>
            <a:pPr algn="just">
              <a:lnSpc>
                <a:spcPts val="2729"/>
              </a:lnSpc>
            </a:pPr>
          </a:p>
          <a:p>
            <a:pPr algn="l">
              <a:lnSpc>
                <a:spcPts val="2729"/>
              </a:lnSpc>
            </a:pPr>
            <a:r>
              <a:rPr lang="en-US" sz="1949">
                <a:solidFill>
                  <a:srgbClr val="000000"/>
                </a:solidFill>
                <a:latin typeface="Canva Sans"/>
                <a:ea typeface="Canva Sans"/>
                <a:cs typeface="Canva Sans"/>
                <a:sym typeface="Canva Sans"/>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DAHMDHX04S0</dc:identifier>
  <dcterms:modified xsi:type="dcterms:W3CDTF">2011-08-01T06:04:30Z</dcterms:modified>
  <cp:revision>1</cp:revision>
  <dc:title>UTS_CommProtocol_Dani Riyanto_25120500028</dc:title>
</cp:coreProperties>
</file>